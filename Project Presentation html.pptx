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32" r:id="rId1"/>
  </p:sldMasterIdLst>
  <p:notesMasterIdLst>
    <p:notesMasterId r:id="rId29"/>
  </p:notesMasterIdLst>
  <p:handoutMasterIdLst>
    <p:handoutMasterId r:id="rId30"/>
  </p:handoutMasterIdLst>
  <p:sldIdLst>
    <p:sldId id="1184" r:id="rId2"/>
    <p:sldId id="1512" r:id="rId3"/>
    <p:sldId id="1518" r:id="rId4"/>
    <p:sldId id="1513" r:id="rId5"/>
    <p:sldId id="1517" r:id="rId6"/>
    <p:sldId id="1514" r:id="rId7"/>
    <p:sldId id="1519" r:id="rId8"/>
    <p:sldId id="1520" r:id="rId9"/>
    <p:sldId id="1515" r:id="rId10"/>
    <p:sldId id="1521" r:id="rId11"/>
    <p:sldId id="1522" r:id="rId12"/>
    <p:sldId id="1523" r:id="rId13"/>
    <p:sldId id="1524" r:id="rId14"/>
    <p:sldId id="1525" r:id="rId15"/>
    <p:sldId id="1526" r:id="rId16"/>
    <p:sldId id="1527" r:id="rId17"/>
    <p:sldId id="1528" r:id="rId18"/>
    <p:sldId id="1529" r:id="rId19"/>
    <p:sldId id="1530" r:id="rId20"/>
    <p:sldId id="1531" r:id="rId21"/>
    <p:sldId id="1532" r:id="rId22"/>
    <p:sldId id="1516" r:id="rId23"/>
    <p:sldId id="1533" r:id="rId24"/>
    <p:sldId id="1534" r:id="rId25"/>
    <p:sldId id="1535" r:id="rId26"/>
    <p:sldId id="1536" r:id="rId27"/>
    <p:sldId id="1537" r:id="rId28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31"/>
      <p:bold r:id="rId32"/>
      <p: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094"/>
    <a:srgbClr val="000000"/>
    <a:srgbClr val="004170"/>
    <a:srgbClr val="959596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89134" autoAdjust="0"/>
  </p:normalViewPr>
  <p:slideViewPr>
    <p:cSldViewPr snapToGrid="0" showGuides="1">
      <p:cViewPr varScale="1">
        <p:scale>
          <a:sx n="97" d="100"/>
          <a:sy n="97" d="100"/>
        </p:scale>
        <p:origin x="979" y="72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77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79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5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51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95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1718222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004170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rgbClr val="52525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27E3040A-260C-E508-C6ED-F8F812868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5094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81272"/>
            <a:ext cx="8349916" cy="332922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B6E1C1BA-C71F-EB80-D432-69C26EFAF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8349916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83995F0A-3F7A-B3B5-92B5-8366353D3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914399"/>
            <a:ext cx="4073090" cy="36961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/>
          <p:nvPr userDrawn="1"/>
        </p:nvCxnSpPr>
        <p:spPr>
          <a:xfrm>
            <a:off x="4648200" y="914399"/>
            <a:ext cx="0" cy="369610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16EA-52B2-E66C-2424-81E6401E86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5E50042-44DF-8EE4-2BDC-CEF9F7C242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D5A961-AD54-E74B-A114-4A6BF3102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9587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3" y="224941"/>
            <a:ext cx="4172780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90959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47B7A-C657-3FE9-22B7-3CC668DB6950}"/>
              </a:ext>
            </a:extLst>
          </p:cNvPr>
          <p:cNvSpPr/>
          <p:nvPr userDrawn="1"/>
        </p:nvSpPr>
        <p:spPr bwMode="auto">
          <a:xfrm>
            <a:off x="4615543" y="-1"/>
            <a:ext cx="4528457" cy="482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40CE9278-0846-9AE8-9D92-1F511FEF89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A5AC1D-4AC1-E5E8-42A4-265DA6380F7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57057" y="224941"/>
            <a:ext cx="4031264" cy="4599058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EFC393-0E33-BA79-84B9-ABFC3419B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88ECE2B-4210-587A-559B-CBA9E5768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366" y="903514"/>
            <a:ext cx="8348312" cy="3733799"/>
          </a:xfrm>
        </p:spPr>
        <p:txBody>
          <a:bodyPr/>
          <a:lstStyle>
            <a:lvl1pPr marL="0" indent="0">
              <a:buFontTx/>
              <a:buNone/>
              <a:defRPr sz="21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78EAF-8C25-A047-8EAD-BFDA799F3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147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01916-F7A2-9C60-E52F-967F17842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66F80-42B6-B58C-AD1E-50DC29A86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CE492-C280-5201-CBB5-16A9AEF42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5BABDC-CE89-5D10-A2FB-2F855A64219D}"/>
              </a:ext>
            </a:extLst>
          </p:cNvPr>
          <p:cNvSpPr/>
          <p:nvPr userDrawn="1"/>
        </p:nvSpPr>
        <p:spPr bwMode="auto">
          <a:xfrm>
            <a:off x="0" y="0"/>
            <a:ext cx="9143999" cy="1955800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42EC46E9-2F40-2609-8586-6453277E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ABF4AB-5CB0-7B2D-BF27-32A2FB979959}"/>
              </a:ext>
            </a:extLst>
          </p:cNvPr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1005B-8E19-7B09-A5A7-6AA5B23AF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4FAC-2DE5-41E9-9A24-8A1E7CF1B5A0}" type="datetime4">
              <a:rPr lang="en-US"/>
              <a:pPr>
                <a:defRPr/>
              </a:pPr>
              <a:t>December 6, 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MSRIT, Bangalore - 54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BB723-660E-4467-8A37-055799D18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9407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29" r:id="rId6"/>
    <p:sldLayoutId id="2147484026" r:id="rId7"/>
    <p:sldLayoutId id="2147484027" r:id="rId8"/>
    <p:sldLayoutId id="2147483944" r:id="rId9"/>
    <p:sldLayoutId id="2147483940" r:id="rId10"/>
    <p:sldLayoutId id="2147483947" r:id="rId11"/>
    <p:sldLayoutId id="2147484030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36772-7B19-4B52-9236-355B481717F6}"/>
              </a:ext>
            </a:extLst>
          </p:cNvPr>
          <p:cNvSpPr txBox="1"/>
          <p:nvPr/>
        </p:nvSpPr>
        <p:spPr bwMode="auto">
          <a:xfrm>
            <a:off x="299452" y="1703476"/>
            <a:ext cx="8545095" cy="181588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</a:t>
            </a:r>
            <a:r>
              <a:rPr lang="en-US" sz="32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Presentation</a:t>
            </a:r>
          </a:p>
          <a:p>
            <a:pPr algn="ctr"/>
            <a:r>
              <a:rPr lang="en-US" sz="3200" b="1" spc="-10" dirty="0">
                <a:latin typeface="Times New Roman" panose="02020603050405020304" pitchFamily="18" charset="0"/>
              </a:rPr>
              <a:t>On</a:t>
            </a:r>
            <a:endParaRPr lang="en-IN" sz="2400" b="1" spc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b="1" dirty="0"/>
              <a:t>      Student Management System Build a full-stack          web application to manage student data. 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53211-F747-4EA7-9040-4EB11C7A7B36}"/>
              </a:ext>
            </a:extLst>
          </p:cNvPr>
          <p:cNvSpPr txBox="1"/>
          <p:nvPr/>
        </p:nvSpPr>
        <p:spPr bwMode="auto">
          <a:xfrm>
            <a:off x="782524" y="3986447"/>
            <a:ext cx="7405512" cy="83099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41935" marR="688340" algn="ctr">
              <a:spcAft>
                <a:spcPts val="0"/>
              </a:spcAft>
            </a:pP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400" b="1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VANGA NAVYA SRI</a:t>
            </a:r>
          </a:p>
          <a:p>
            <a:pPr marL="241935" marR="688340" algn="ctr"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No:25951A1265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91225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D0311-8205-4C9E-88BF-2F6F2E0A4537}"/>
              </a:ext>
            </a:extLst>
          </p:cNvPr>
          <p:cNvSpPr txBox="1"/>
          <p:nvPr/>
        </p:nvSpPr>
        <p:spPr bwMode="auto">
          <a:xfrm>
            <a:off x="2931121" y="241002"/>
            <a:ext cx="2579511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9AABA-6444-3DD4-DC83-480FD34A84E6}"/>
              </a:ext>
            </a:extLst>
          </p:cNvPr>
          <p:cNvSpPr txBox="1"/>
          <p:nvPr/>
        </p:nvSpPr>
        <p:spPr bwMode="auto">
          <a:xfrm>
            <a:off x="591207" y="862336"/>
            <a:ext cx="8308428" cy="36933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Overview – Student Management System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Student Management System (SMS)</a:t>
            </a:r>
            <a:r>
              <a:rPr lang="en-US" dirty="0"/>
              <a:t> is a full-stack web application designed to simplify and automate the management of student information in an educational institution. The system provides role-based access for </a:t>
            </a:r>
            <a:r>
              <a:rPr lang="en-US" b="1" dirty="0"/>
              <a:t>administrators, teachers, and students</a:t>
            </a:r>
            <a:r>
              <a:rPr lang="en-US" dirty="0"/>
              <a:t>, ensuring that each user interacts with the platform according to their responsibilities.</a:t>
            </a:r>
          </a:p>
          <a:p>
            <a:pPr>
              <a:buNone/>
            </a:pPr>
            <a:r>
              <a:rPr lang="en-US" dirty="0"/>
              <a:t>The application enables secure </a:t>
            </a:r>
            <a:r>
              <a:rPr lang="en-US" b="1" dirty="0"/>
              <a:t>user authentication</a:t>
            </a:r>
            <a:r>
              <a:rPr lang="en-US" dirty="0"/>
              <a:t>, efficient </a:t>
            </a:r>
            <a:r>
              <a:rPr lang="en-US" b="1" dirty="0"/>
              <a:t>CRUD operations</a:t>
            </a:r>
            <a:r>
              <a:rPr lang="en-US" dirty="0"/>
              <a:t> for managing student records, and powerful </a:t>
            </a:r>
            <a:r>
              <a:rPr lang="en-US" b="1" dirty="0"/>
              <a:t>search and filter</a:t>
            </a:r>
            <a:r>
              <a:rPr lang="en-US" dirty="0"/>
              <a:t> tools to quickly retrieve information. Additionally, the system supports </a:t>
            </a:r>
            <a:r>
              <a:rPr lang="en-US" b="1" dirty="0"/>
              <a:t>report generation in PDF and Excel formats</a:t>
            </a:r>
            <a:r>
              <a:rPr lang="en-US" dirty="0"/>
              <a:t>, helping administrators and teachers generate academic lists, attendance reports, and student summaries.</a:t>
            </a:r>
          </a:p>
          <a:p>
            <a:pPr>
              <a:buNone/>
            </a:pPr>
            <a:r>
              <a:rPr lang="en-US" dirty="0"/>
              <a:t>This project aims to enhance data accuracy, minimize paperwork, and provide a seamless digital interface for maintaining essential student data.</a:t>
            </a:r>
          </a:p>
        </p:txBody>
      </p:sp>
    </p:spTree>
    <p:extLst>
      <p:ext uri="{BB962C8B-B14F-4D97-AF65-F5344CB8AC3E}">
        <p14:creationId xmlns:p14="http://schemas.microsoft.com/office/powerpoint/2010/main" val="13844044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D7251-53B6-C615-31B9-178B8EDB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15B02-2707-5229-96B7-52BE21EAD80F}"/>
              </a:ext>
            </a:extLst>
          </p:cNvPr>
          <p:cNvSpPr txBox="1"/>
          <p:nvPr/>
        </p:nvSpPr>
        <p:spPr bwMode="auto">
          <a:xfrm>
            <a:off x="488731" y="862254"/>
            <a:ext cx="8166538" cy="286232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application allows authorized users to perform </a:t>
            </a:r>
            <a:r>
              <a:rPr lang="en-US" b="1" dirty="0"/>
              <a:t>CRUD operations</a:t>
            </a:r>
            <a:r>
              <a:rPr lang="en-US" dirty="0"/>
              <a:t> on student data—such as adding new student records, updating details, viewing profiles, and deleting entries when necessary. It also includes </a:t>
            </a:r>
            <a:r>
              <a:rPr lang="en-US" b="1" dirty="0"/>
              <a:t>search and filter features</a:t>
            </a:r>
            <a:r>
              <a:rPr lang="en-US" dirty="0"/>
              <a:t> to quickly retrieve student information based on criteria like name, ID, course, or department.</a:t>
            </a:r>
          </a:p>
          <a:p>
            <a:pPr>
              <a:buNone/>
            </a:pPr>
            <a:r>
              <a:rPr lang="en-US" dirty="0"/>
              <a:t>To support academic and administrative tasks, the system can generate </a:t>
            </a:r>
            <a:r>
              <a:rPr lang="en-US" b="1" dirty="0"/>
              <a:t>reports in PDF or Excel formats</a:t>
            </a:r>
            <a:r>
              <a:rPr lang="en-US" dirty="0"/>
              <a:t>, such as student lists, academic summaries, and attendance reports. By centralizing student data and providing an easy-to-use interface, the Student Management System enhances efficiency, accuracy, and accessibility for educational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329929280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F94C1D-F507-403F-8B6D-332CF9D4C23E}"/>
              </a:ext>
            </a:extLst>
          </p:cNvPr>
          <p:cNvSpPr txBox="1"/>
          <p:nvPr/>
        </p:nvSpPr>
        <p:spPr bwMode="auto">
          <a:xfrm>
            <a:off x="2065283" y="243142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Idea and 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2A1B4-7AA4-52EB-B061-673D4398A923}"/>
              </a:ext>
            </a:extLst>
          </p:cNvPr>
          <p:cNvSpPr txBox="1"/>
          <p:nvPr/>
        </p:nvSpPr>
        <p:spPr bwMode="auto">
          <a:xfrm>
            <a:off x="268013" y="857993"/>
            <a:ext cx="9144000" cy="36933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Implement User Authentication &amp; Role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secure login functionality for </a:t>
            </a:r>
            <a:r>
              <a:rPr lang="en-US" b="1" dirty="0"/>
              <a:t>Admin</a:t>
            </a:r>
            <a:r>
              <a:rPr lang="en-US" dirty="0"/>
              <a:t>, </a:t>
            </a:r>
            <a:r>
              <a:rPr lang="en-US" b="1" dirty="0"/>
              <a:t>Teacher</a:t>
            </a:r>
            <a:r>
              <a:rPr lang="en-US" dirty="0"/>
              <a:t>, and </a:t>
            </a:r>
            <a:r>
              <a:rPr lang="en-US" b="1" dirty="0"/>
              <a:t>Student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that each user role has access only to specific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Admin → full access (CRUD, users, reports)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Teacher → view, update,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Student → view own profile</a:t>
            </a:r>
          </a:p>
          <a:p>
            <a:pPr>
              <a:buNone/>
            </a:pPr>
            <a:r>
              <a:rPr lang="en-US" b="1" dirty="0"/>
              <a:t>2. Develop CRUD Operations for Student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Admin and Teachers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Add</a:t>
            </a:r>
            <a:r>
              <a:rPr lang="en-US" dirty="0"/>
              <a:t> new student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Edit</a:t>
            </a:r>
            <a:r>
              <a:rPr lang="en-US" dirty="0"/>
              <a:t> existing student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Delete</a:t>
            </a:r>
            <a:r>
              <a:rPr lang="en-US" dirty="0"/>
              <a:t> records securely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View</a:t>
            </a:r>
            <a:r>
              <a:rPr lang="en-US" dirty="0"/>
              <a:t> full student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data such as name, roll number, course, marks, attendance, contact details, etc.</a:t>
            </a:r>
          </a:p>
        </p:txBody>
      </p:sp>
    </p:spTree>
    <p:extLst>
      <p:ext uri="{BB962C8B-B14F-4D97-AF65-F5344CB8AC3E}">
        <p14:creationId xmlns:p14="http://schemas.microsoft.com/office/powerpoint/2010/main" val="19232502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C0EB40-916B-F96A-8B96-4F127C80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6A20D-65D9-F6DC-D80E-C98D4519D243}"/>
              </a:ext>
            </a:extLst>
          </p:cNvPr>
          <p:cNvSpPr txBox="1"/>
          <p:nvPr/>
        </p:nvSpPr>
        <p:spPr bwMode="auto">
          <a:xfrm>
            <a:off x="528145" y="68550"/>
            <a:ext cx="9144000" cy="480131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Add Search and Filter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 users to search students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Name , Roll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Department , Year/semester</a:t>
            </a:r>
          </a:p>
          <a:p>
            <a:r>
              <a:rPr lang="en-US" dirty="0"/>
              <a:t>Provide filters to narrow down results (ex: marks &gt; 70%, attendance &lt; 50%).</a:t>
            </a:r>
          </a:p>
          <a:p>
            <a:pPr>
              <a:buNone/>
            </a:pPr>
            <a:r>
              <a:rPr lang="en-US" b="1" dirty="0"/>
              <a:t>4. Generate Reports in PDF/Excel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Admin to download: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Student list report , Class-wise or department-wise report,</a:t>
            </a:r>
          </a:p>
          <a:p>
            <a:pPr lvl="1"/>
            <a:r>
              <a:rPr lang="en-US" dirty="0"/>
              <a:t>     Marks and attendance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Export formatted data as </a:t>
            </a:r>
            <a:r>
              <a:rPr lang="en-US" b="1" dirty="0"/>
              <a:t>PDF</a:t>
            </a:r>
            <a:r>
              <a:rPr lang="en-US" dirty="0"/>
              <a:t> or </a:t>
            </a:r>
            <a:r>
              <a:rPr lang="en-US" b="1" dirty="0"/>
              <a:t>Excel (.xlsx)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5. Provide a Simple and Interactive 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clean dashboard for each user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navigation to manage data and view reports.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 UI for desktop and mobile access.</a:t>
            </a:r>
          </a:p>
          <a:p>
            <a:pPr>
              <a:buNone/>
            </a:pPr>
            <a:r>
              <a:rPr lang="en-US" b="1" dirty="0"/>
              <a:t>6. Ensure Data Security and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 sensitive student information with authentication and validation.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 unauthorized access and accidental deletions.</a:t>
            </a:r>
          </a:p>
        </p:txBody>
      </p:sp>
    </p:spTree>
    <p:extLst>
      <p:ext uri="{BB962C8B-B14F-4D97-AF65-F5344CB8AC3E}">
        <p14:creationId xmlns:p14="http://schemas.microsoft.com/office/powerpoint/2010/main" val="7607095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6B7D43-C182-4FE0-AE95-BE754923A284}"/>
              </a:ext>
            </a:extLst>
          </p:cNvPr>
          <p:cNvSpPr txBox="1"/>
          <p:nvPr/>
        </p:nvSpPr>
        <p:spPr bwMode="auto">
          <a:xfrm>
            <a:off x="2184303" y="215698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Implemented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DF7D8-9D10-6A10-543C-9C09972A62FD}"/>
              </a:ext>
            </a:extLst>
          </p:cNvPr>
          <p:cNvSpPr txBox="1"/>
          <p:nvPr/>
        </p:nvSpPr>
        <p:spPr bwMode="auto">
          <a:xfrm>
            <a:off x="1915511" y="859097"/>
            <a:ext cx="5872655" cy="36933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User Authentication &amp; Role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login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Different dashboards/interfaces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Admin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Teacher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Student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Role-based access control (RBAC)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Admin → full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Teacher → manage students, view reports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Student → view their own details and results</a:t>
            </a:r>
          </a:p>
          <a:p>
            <a:pPr>
              <a:buNone/>
            </a:pPr>
            <a:r>
              <a:rPr lang="en-IN" b="1" dirty="0"/>
              <a:t>2. Student Record Management (CRUD Operations)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Add new student</a:t>
            </a:r>
            <a:r>
              <a:rPr lang="en-IN" dirty="0"/>
              <a:t> with personal &amp; academic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Edit/update</a:t>
            </a:r>
            <a:r>
              <a:rPr lang="en-IN" dirty="0"/>
              <a:t> existing student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02468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1FFE97-712D-E3FC-FE23-8A43EF46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75806-C8F4-5CDE-6650-A86FD2426EA0}"/>
              </a:ext>
            </a:extLst>
          </p:cNvPr>
          <p:cNvSpPr txBox="1"/>
          <p:nvPr/>
        </p:nvSpPr>
        <p:spPr bwMode="auto">
          <a:xfrm>
            <a:off x="1568669" y="0"/>
            <a:ext cx="7945820" cy="480131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View</a:t>
            </a:r>
            <a:r>
              <a:rPr lang="en-US" dirty="0"/>
              <a:t> student details in a structured format (tables/cards).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validation (client + server side).</a:t>
            </a:r>
          </a:p>
          <a:p>
            <a:pPr>
              <a:buNone/>
            </a:pPr>
            <a:r>
              <a:rPr lang="en-US" b="1" dirty="0"/>
              <a:t>3. Search &amp; Filter Functionalities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search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Roll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Class/section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options: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By course / year / grade /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Active/inactive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Sorting (A–Z, by marks, by date added).</a:t>
            </a:r>
          </a:p>
          <a:p>
            <a:pPr>
              <a:buNone/>
            </a:pPr>
            <a:r>
              <a:rPr lang="en-US" b="1" dirty="0"/>
              <a:t>4. Report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Auto-generate </a:t>
            </a:r>
            <a:r>
              <a:rPr lang="en-US" b="1" dirty="0"/>
              <a:t>PDF Reports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Student profile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Class-wise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Performance/grade report</a:t>
            </a:r>
          </a:p>
        </p:txBody>
      </p:sp>
    </p:spTree>
    <p:extLst>
      <p:ext uri="{BB962C8B-B14F-4D97-AF65-F5344CB8AC3E}">
        <p14:creationId xmlns:p14="http://schemas.microsoft.com/office/powerpoint/2010/main" val="299636667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B99511-31D5-3AEE-6B08-C76575B5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AB269-0CC2-9711-B501-2EBD9C160C98}"/>
              </a:ext>
            </a:extLst>
          </p:cNvPr>
          <p:cNvSpPr txBox="1"/>
          <p:nvPr/>
        </p:nvSpPr>
        <p:spPr bwMode="auto">
          <a:xfrm>
            <a:off x="1040525" y="567201"/>
            <a:ext cx="9207062" cy="34163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Export </a:t>
            </a:r>
            <a:r>
              <a:rPr lang="en-US" b="1" dirty="0"/>
              <a:t>Excel Reports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Bulk student data in Excel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Attendance/marks sheet export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5. Additional Helpful Features (If included)</a:t>
            </a:r>
          </a:p>
          <a:p>
            <a:pPr>
              <a:buNone/>
            </a:pPr>
            <a:r>
              <a:rPr lang="en-US" i="1" dirty="0"/>
              <a:t>(These are commonly part of such systems and may be listed as features)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with statistics (total students, top performers,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validation and error handling.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 UI for all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Activity logs (admin monitoring).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integration (MySQL/MongoDB/PostgreSQL).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 support for external usage.</a:t>
            </a:r>
          </a:p>
        </p:txBody>
      </p:sp>
    </p:spTree>
    <p:extLst>
      <p:ext uri="{BB962C8B-B14F-4D97-AF65-F5344CB8AC3E}">
        <p14:creationId xmlns:p14="http://schemas.microsoft.com/office/powerpoint/2010/main" val="117021088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7D5C40-6F2E-4587-9728-6BE9750B5547}"/>
              </a:ext>
            </a:extLst>
          </p:cNvPr>
          <p:cNvSpPr txBox="1"/>
          <p:nvPr/>
        </p:nvSpPr>
        <p:spPr bwMode="auto">
          <a:xfrm>
            <a:off x="2437330" y="135709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1E6C2-D049-B80B-074F-9A1C93B96C7F}"/>
              </a:ext>
            </a:extLst>
          </p:cNvPr>
          <p:cNvSpPr txBox="1"/>
          <p:nvPr/>
        </p:nvSpPr>
        <p:spPr bwMode="auto">
          <a:xfrm>
            <a:off x="520262" y="579893"/>
            <a:ext cx="8623738" cy="424731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1 — Tech stack (recommended)Backend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Language: </a:t>
            </a:r>
            <a:r>
              <a:rPr lang="en-IN" b="1" dirty="0"/>
              <a:t>TypeScript</a:t>
            </a:r>
            <a:r>
              <a:rPr lang="en-IN" dirty="0"/>
              <a:t> (Node.js)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Framework: </a:t>
            </a:r>
            <a:r>
              <a:rPr lang="en-IN" b="1" dirty="0"/>
              <a:t>Express</a:t>
            </a:r>
            <a:r>
              <a:rPr lang="en-IN" dirty="0"/>
              <a:t> or </a:t>
            </a:r>
            <a:r>
              <a:rPr lang="en-IN" b="1" dirty="0" err="1"/>
              <a:t>Fastify</a:t>
            </a:r>
            <a:r>
              <a:rPr lang="en-IN" dirty="0"/>
              <a:t> (Express for familiarity; </a:t>
            </a:r>
            <a:r>
              <a:rPr lang="en-IN" dirty="0" err="1"/>
              <a:t>Fastify</a:t>
            </a:r>
            <a:r>
              <a:rPr lang="en-IN" dirty="0"/>
              <a:t> for performance)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ORM: </a:t>
            </a:r>
            <a:r>
              <a:rPr lang="en-IN" b="1" dirty="0"/>
              <a:t>Prisma</a:t>
            </a:r>
            <a:r>
              <a:rPr lang="en-IN" dirty="0"/>
              <a:t> (Postgres-first) or </a:t>
            </a:r>
            <a:r>
              <a:rPr lang="en-IN" dirty="0" err="1"/>
              <a:t>TypeORM</a:t>
            </a:r>
            <a:r>
              <a:rPr lang="en-IN" dirty="0"/>
              <a:t>/</a:t>
            </a:r>
            <a:r>
              <a:rPr lang="en-IN" dirty="0" err="1"/>
              <a:t>Sequelize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DB: </a:t>
            </a:r>
            <a:r>
              <a:rPr lang="en-IN" b="1" dirty="0"/>
              <a:t>PostgreSQL</a:t>
            </a:r>
            <a:r>
              <a:rPr lang="en-IN" dirty="0"/>
              <a:t> (production); SQLite for local dev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File storage: </a:t>
            </a:r>
            <a:r>
              <a:rPr lang="en-IN" b="1" dirty="0"/>
              <a:t>AWS S3</a:t>
            </a:r>
            <a:r>
              <a:rPr lang="en-IN" dirty="0"/>
              <a:t> (or Google Cloud Storage)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Auth: </a:t>
            </a:r>
            <a:r>
              <a:rPr lang="en-IN" b="1" dirty="0"/>
              <a:t>JWT</a:t>
            </a:r>
            <a:r>
              <a:rPr lang="en-IN" dirty="0"/>
              <a:t> (access + refresh) + </a:t>
            </a:r>
            <a:r>
              <a:rPr lang="en-IN" b="1" dirty="0" err="1"/>
              <a:t>bcrypt</a:t>
            </a:r>
            <a:r>
              <a:rPr lang="en-IN" dirty="0"/>
              <a:t> for passwords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Reporting libs: </a:t>
            </a:r>
            <a:r>
              <a:rPr lang="en-IN" b="1" dirty="0"/>
              <a:t>Puppeteer</a:t>
            </a:r>
            <a:r>
              <a:rPr lang="en-IN" dirty="0"/>
              <a:t> (HTML → PDF) or </a:t>
            </a:r>
            <a:r>
              <a:rPr lang="en-IN" b="1" dirty="0" err="1"/>
              <a:t>pdfkit</a:t>
            </a:r>
            <a:r>
              <a:rPr lang="en-IN" dirty="0"/>
              <a:t>; </a:t>
            </a:r>
            <a:r>
              <a:rPr lang="en-IN" b="1" dirty="0" err="1"/>
              <a:t>exceljs</a:t>
            </a:r>
            <a:r>
              <a:rPr lang="en-IN" dirty="0"/>
              <a:t> for XLSX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Search (optional): Postgres full-text + trigram indexes; </a:t>
            </a:r>
            <a:r>
              <a:rPr lang="en-IN" b="1" dirty="0"/>
              <a:t>Elasticsearch</a:t>
            </a:r>
            <a:r>
              <a:rPr lang="en-IN" dirty="0"/>
              <a:t> or </a:t>
            </a:r>
            <a:r>
              <a:rPr lang="en-IN" b="1" dirty="0" err="1"/>
              <a:t>Typesense</a:t>
            </a:r>
            <a:r>
              <a:rPr lang="en-IN" dirty="0"/>
              <a:t> for large 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Testing: </a:t>
            </a:r>
            <a:r>
              <a:rPr lang="en-IN" b="1" dirty="0"/>
              <a:t>Jest</a:t>
            </a:r>
            <a:r>
              <a:rPr lang="en-IN" dirty="0"/>
              <a:t> (unit), </a:t>
            </a:r>
            <a:r>
              <a:rPr lang="en-IN" b="1" dirty="0" err="1"/>
              <a:t>Supertest</a:t>
            </a:r>
            <a:r>
              <a:rPr lang="en-IN" dirty="0"/>
              <a:t> (API), </a:t>
            </a:r>
            <a:r>
              <a:rPr lang="en-IN" b="1" dirty="0"/>
              <a:t>Cypress</a:t>
            </a:r>
            <a:r>
              <a:rPr lang="en-IN" dirty="0"/>
              <a:t> (E2E)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Container: </a:t>
            </a:r>
            <a:r>
              <a:rPr lang="en-IN" b="1" dirty="0"/>
              <a:t>Docker</a:t>
            </a:r>
            <a:endParaRPr lang="en-IN" dirty="0"/>
          </a:p>
          <a:p>
            <a:pPr>
              <a:buNone/>
            </a:pPr>
            <a:r>
              <a:rPr lang="en-IN" b="1" dirty="0"/>
              <a:t>Frontend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Framework: </a:t>
            </a:r>
            <a:r>
              <a:rPr lang="en-IN" b="1" dirty="0"/>
              <a:t>React + TypeScript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464677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321871-AD37-C404-7508-CFC8C88B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61378-86E3-A447-8B9F-08479E946300}"/>
              </a:ext>
            </a:extLst>
          </p:cNvPr>
          <p:cNvSpPr txBox="1"/>
          <p:nvPr/>
        </p:nvSpPr>
        <p:spPr bwMode="auto">
          <a:xfrm>
            <a:off x="0" y="238496"/>
            <a:ext cx="9144000" cy="452431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2 — Core features &amp; responsibilities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(a) </a:t>
            </a:r>
            <a:r>
              <a:rPr lang="en-IN" b="1" dirty="0"/>
              <a:t>User authentication (admin, teacher, student)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 up (admin only or invite), login, logout, refresh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Role-based access control: Admin &gt; Teacher &gt; Student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Password reset (email), 2FA optional</a:t>
            </a:r>
          </a:p>
          <a:p>
            <a:pPr>
              <a:buNone/>
            </a:pPr>
            <a:r>
              <a:rPr lang="en-IN" dirty="0"/>
              <a:t>(b) </a:t>
            </a:r>
            <a:r>
              <a:rPr lang="en-IN" b="1" dirty="0"/>
              <a:t>CRUD operations for student records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Student record fields: </a:t>
            </a:r>
            <a:r>
              <a:rPr lang="en-IN" b="1" dirty="0">
                <a:latin typeface="Courier New" panose="02070309020205020404" pitchFamily="49" charset="0"/>
              </a:rPr>
              <a:t>id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first_name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last_name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dob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gender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email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phone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address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class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section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roll_no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admission_no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guardian_info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enrollment_date</a:t>
            </a:r>
            <a:r>
              <a:rPr lang="en-IN" b="1" dirty="0"/>
              <a:t>, </a:t>
            </a:r>
            <a:r>
              <a:rPr lang="en-IN" b="1" dirty="0" err="1">
                <a:latin typeface="Courier New" panose="02070309020205020404" pitchFamily="49" charset="0"/>
              </a:rPr>
              <a:t>photo_url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notes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grades</a:t>
            </a:r>
            <a:r>
              <a:rPr lang="en-IN" b="1" dirty="0"/>
              <a:t> (relation)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Endpoints for create/read/update/delete (RBAC checks)</a:t>
            </a:r>
          </a:p>
          <a:p>
            <a:pPr>
              <a:buNone/>
            </a:pPr>
            <a:r>
              <a:rPr lang="en-IN" dirty="0"/>
              <a:t>(c) </a:t>
            </a:r>
            <a:r>
              <a:rPr lang="en-IN" b="1" dirty="0"/>
              <a:t>Search and filter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Search by name/email/</a:t>
            </a:r>
            <a:r>
              <a:rPr lang="en-IN" dirty="0" err="1"/>
              <a:t>admno</a:t>
            </a:r>
            <a:r>
              <a:rPr lang="en-IN" dirty="0"/>
              <a:t>/</a:t>
            </a:r>
            <a:r>
              <a:rPr lang="en-IN" dirty="0" err="1"/>
              <a:t>roll_no</a:t>
            </a:r>
            <a:r>
              <a:rPr lang="en-IN" dirty="0"/>
              <a:t> (ILIKE or full-text)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Filter by class/section/</a:t>
            </a:r>
            <a:r>
              <a:rPr lang="en-IN" dirty="0" err="1"/>
              <a:t>enrollment_date</a:t>
            </a:r>
            <a:r>
              <a:rPr lang="en-IN" dirty="0"/>
              <a:t> range/status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Pagination + sorting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Suggest using Postgres </a:t>
            </a:r>
            <a:r>
              <a:rPr lang="en-IN" dirty="0">
                <a:latin typeface="Courier New" panose="02070309020205020404" pitchFamily="49" charset="0"/>
              </a:rPr>
              <a:t>GIN</a:t>
            </a:r>
            <a:r>
              <a:rPr lang="en-IN" dirty="0"/>
              <a:t> index on </a:t>
            </a:r>
            <a:r>
              <a:rPr lang="en-IN" dirty="0" err="1"/>
              <a:t>tsvector</a:t>
            </a:r>
            <a:r>
              <a:rPr lang="en-IN" dirty="0"/>
              <a:t> or trigram index for fuzzy name searches</a:t>
            </a:r>
          </a:p>
        </p:txBody>
      </p:sp>
    </p:spTree>
    <p:extLst>
      <p:ext uri="{BB962C8B-B14F-4D97-AF65-F5344CB8AC3E}">
        <p14:creationId xmlns:p14="http://schemas.microsoft.com/office/powerpoint/2010/main" val="35881765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CCD3B7-9671-2EB0-5B7E-37972668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1986-EA2D-BBDB-F587-678EAA7BBC40}"/>
              </a:ext>
            </a:extLst>
          </p:cNvPr>
          <p:cNvSpPr txBox="1"/>
          <p:nvPr/>
        </p:nvSpPr>
        <p:spPr bwMode="auto">
          <a:xfrm>
            <a:off x="326153" y="16130"/>
            <a:ext cx="8491693" cy="50783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3 — Database schema (simplified SQL)</a:t>
            </a:r>
          </a:p>
          <a:p>
            <a:pPr>
              <a:buNone/>
            </a:pPr>
            <a:endParaRPr lang="en-IN" b="1" dirty="0"/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-- PostgreSQL (simplified)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CREATE TABLE users (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id </a:t>
            </a:r>
            <a:r>
              <a:rPr lang="en-IN" b="1" dirty="0" err="1">
                <a:latin typeface="Courier New" panose="02070309020205020404" pitchFamily="49" charset="0"/>
              </a:rPr>
              <a:t>uuid</a:t>
            </a:r>
            <a:r>
              <a:rPr lang="en-IN" b="1" dirty="0">
                <a:latin typeface="Courier New" panose="02070309020205020404" pitchFamily="49" charset="0"/>
              </a:rPr>
              <a:t> PRIMARY KEY DEFAULT </a:t>
            </a:r>
            <a:r>
              <a:rPr lang="en-IN" b="1" dirty="0" err="1">
                <a:latin typeface="Courier New" panose="02070309020205020404" pitchFamily="49" charset="0"/>
              </a:rPr>
              <a:t>gen_random_uuid</a:t>
            </a:r>
            <a:r>
              <a:rPr lang="en-IN" b="1" dirty="0">
                <a:latin typeface="Courier New" panose="02070309020205020404" pitchFamily="49" charset="0"/>
              </a:rPr>
              <a:t>(),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email varchar(255) UNIQUE NOT NULL,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password_hash</a:t>
            </a:r>
            <a:r>
              <a:rPr lang="en-IN" b="1" dirty="0">
                <a:latin typeface="Courier New" panose="02070309020205020404" pitchFamily="49" charset="0"/>
              </a:rPr>
              <a:t> varchar(255) NOT NULL,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role varchar(20) NOT NULL, -- 'admin' | 'teacher' | 'student'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created_at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timestamptz</a:t>
            </a:r>
            <a:r>
              <a:rPr lang="en-IN" b="1" dirty="0">
                <a:latin typeface="Courier New" panose="02070309020205020404" pitchFamily="49" charset="0"/>
              </a:rPr>
              <a:t> DEFAULT now(),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updated_at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timestamptz</a:t>
            </a:r>
            <a:r>
              <a:rPr lang="en-IN" b="1" dirty="0">
                <a:latin typeface="Courier New" panose="02070309020205020404" pitchFamily="49" charset="0"/>
              </a:rPr>
              <a:t> DEFAULT now()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n-IN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CREATE TABLE students (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id </a:t>
            </a:r>
            <a:r>
              <a:rPr lang="en-IN" b="1" dirty="0" err="1">
                <a:latin typeface="Courier New" panose="02070309020205020404" pitchFamily="49" charset="0"/>
              </a:rPr>
              <a:t>uuid</a:t>
            </a:r>
            <a:r>
              <a:rPr lang="en-IN" b="1" dirty="0">
                <a:latin typeface="Courier New" panose="02070309020205020404" pitchFamily="49" charset="0"/>
              </a:rPr>
              <a:t> PRIMARY KEY DEFAULT </a:t>
            </a:r>
            <a:r>
              <a:rPr lang="en-IN" b="1" dirty="0" err="1">
                <a:latin typeface="Courier New" panose="02070309020205020404" pitchFamily="49" charset="0"/>
              </a:rPr>
              <a:t>gen_random_uuid</a:t>
            </a:r>
            <a:r>
              <a:rPr lang="en-IN" b="1" dirty="0">
                <a:latin typeface="Courier New" panose="02070309020205020404" pitchFamily="49" charset="0"/>
              </a:rPr>
              <a:t>(),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first_name</a:t>
            </a:r>
            <a:r>
              <a:rPr lang="en-IN" b="1" dirty="0">
                <a:latin typeface="Courier New" panose="02070309020205020404" pitchFamily="49" charset="0"/>
              </a:rPr>
              <a:t> varchar(100) NOT NULL,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last_name</a:t>
            </a:r>
            <a:r>
              <a:rPr lang="en-IN" b="1" dirty="0">
                <a:latin typeface="Courier New" panose="02070309020205020404" pitchFamily="49" charset="0"/>
              </a:rPr>
              <a:t> varchar(100),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8070382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AF95BB-7D6B-6A03-F55B-B2088CF3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AC742-26FF-A1FA-1578-0CB06ACC65D9}"/>
              </a:ext>
            </a:extLst>
          </p:cNvPr>
          <p:cNvSpPr txBox="1"/>
          <p:nvPr/>
        </p:nvSpPr>
        <p:spPr bwMode="auto">
          <a:xfrm>
            <a:off x="163577" y="0"/>
            <a:ext cx="9080939" cy="480131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dirty="0"/>
              <a:t>dob date,</a:t>
            </a:r>
          </a:p>
          <a:p>
            <a:r>
              <a:rPr lang="en-IN" dirty="0"/>
              <a:t>  gender varchar(10),</a:t>
            </a:r>
          </a:p>
          <a:p>
            <a:r>
              <a:rPr lang="en-IN" dirty="0"/>
              <a:t>  email varchar(255) UNIQUE,</a:t>
            </a:r>
          </a:p>
          <a:p>
            <a:r>
              <a:rPr lang="en-IN" dirty="0"/>
              <a:t>  phone varchar(30),</a:t>
            </a:r>
          </a:p>
          <a:p>
            <a:r>
              <a:rPr lang="en-IN" dirty="0"/>
              <a:t>  address text,</a:t>
            </a:r>
          </a:p>
          <a:p>
            <a:r>
              <a:rPr lang="en-IN" dirty="0"/>
              <a:t>  class varchar(50),</a:t>
            </a:r>
          </a:p>
          <a:p>
            <a:r>
              <a:rPr lang="en-IN" dirty="0"/>
              <a:t>  section varchar(10),</a:t>
            </a:r>
          </a:p>
          <a:p>
            <a:r>
              <a:rPr lang="en-IN" dirty="0"/>
              <a:t>  </a:t>
            </a:r>
            <a:r>
              <a:rPr lang="en-IN" dirty="0" err="1"/>
              <a:t>roll_no</a:t>
            </a:r>
            <a:r>
              <a:rPr lang="en-IN" dirty="0"/>
              <a:t> varchar(50),</a:t>
            </a:r>
          </a:p>
          <a:p>
            <a:r>
              <a:rPr lang="en-IN" dirty="0"/>
              <a:t>  </a:t>
            </a:r>
            <a:r>
              <a:rPr lang="en-IN" dirty="0" err="1"/>
              <a:t>admission_no</a:t>
            </a:r>
            <a:r>
              <a:rPr lang="en-IN" dirty="0"/>
              <a:t> varchar(50),</a:t>
            </a:r>
          </a:p>
          <a:p>
            <a:r>
              <a:rPr lang="en-IN" dirty="0"/>
              <a:t>  </a:t>
            </a:r>
            <a:r>
              <a:rPr lang="en-IN" dirty="0" err="1"/>
              <a:t>guardian_name</a:t>
            </a:r>
            <a:r>
              <a:rPr lang="en-IN" dirty="0"/>
              <a:t> varchar(200),</a:t>
            </a:r>
          </a:p>
          <a:p>
            <a:r>
              <a:rPr lang="en-IN" dirty="0"/>
              <a:t>  </a:t>
            </a:r>
            <a:r>
              <a:rPr lang="en-IN" dirty="0" err="1"/>
              <a:t>guardian_phone</a:t>
            </a:r>
            <a:r>
              <a:rPr lang="en-IN" dirty="0"/>
              <a:t> varchar(30),</a:t>
            </a:r>
          </a:p>
          <a:p>
            <a:r>
              <a:rPr lang="en-IN" dirty="0"/>
              <a:t>  </a:t>
            </a:r>
            <a:r>
              <a:rPr lang="en-IN" dirty="0" err="1"/>
              <a:t>enrollment_date</a:t>
            </a:r>
            <a:r>
              <a:rPr lang="en-IN" dirty="0"/>
              <a:t> date,</a:t>
            </a:r>
          </a:p>
          <a:p>
            <a:r>
              <a:rPr lang="en-IN" dirty="0"/>
              <a:t>  </a:t>
            </a:r>
            <a:r>
              <a:rPr lang="en-IN" dirty="0" err="1"/>
              <a:t>photo_url</a:t>
            </a:r>
            <a:r>
              <a:rPr lang="en-IN" dirty="0"/>
              <a:t> text,</a:t>
            </a:r>
          </a:p>
          <a:p>
            <a:r>
              <a:rPr lang="en-IN" dirty="0"/>
              <a:t>  notes text,</a:t>
            </a:r>
          </a:p>
          <a:p>
            <a:r>
              <a:rPr lang="en-IN" dirty="0"/>
              <a:t>  </a:t>
            </a:r>
            <a:r>
              <a:rPr lang="en-IN" dirty="0" err="1"/>
              <a:t>created_by</a:t>
            </a:r>
            <a:r>
              <a:rPr lang="en-IN" dirty="0"/>
              <a:t> </a:t>
            </a:r>
            <a:r>
              <a:rPr lang="en-IN" dirty="0" err="1"/>
              <a:t>uuid</a:t>
            </a:r>
            <a:r>
              <a:rPr lang="en-IN" dirty="0"/>
              <a:t> REFERENCES users(id),</a:t>
            </a:r>
          </a:p>
          <a:p>
            <a:r>
              <a:rPr lang="en-IN" dirty="0"/>
              <a:t>  </a:t>
            </a:r>
            <a:r>
              <a:rPr lang="en-IN" dirty="0" err="1"/>
              <a:t>created_at</a:t>
            </a:r>
            <a:r>
              <a:rPr lang="en-IN" dirty="0"/>
              <a:t> </a:t>
            </a:r>
            <a:r>
              <a:rPr lang="en-IN" dirty="0" err="1"/>
              <a:t>timestamptz</a:t>
            </a:r>
            <a:r>
              <a:rPr lang="en-IN" dirty="0"/>
              <a:t> DEFAULT now(),</a:t>
            </a:r>
          </a:p>
          <a:p>
            <a:r>
              <a:rPr lang="en-IN" dirty="0"/>
              <a:t>  </a:t>
            </a:r>
            <a:r>
              <a:rPr lang="en-IN" dirty="0" err="1"/>
              <a:t>updated_at</a:t>
            </a:r>
            <a:r>
              <a:rPr lang="en-IN" dirty="0"/>
              <a:t> </a:t>
            </a:r>
            <a:r>
              <a:rPr lang="en-IN" dirty="0" err="1"/>
              <a:t>timestamptz</a:t>
            </a:r>
            <a:r>
              <a:rPr lang="en-IN" dirty="0"/>
              <a:t> DEFAULT now());</a:t>
            </a:r>
          </a:p>
        </p:txBody>
      </p:sp>
    </p:spTree>
    <p:extLst>
      <p:ext uri="{BB962C8B-B14F-4D97-AF65-F5344CB8AC3E}">
        <p14:creationId xmlns:p14="http://schemas.microsoft.com/office/powerpoint/2010/main" val="40054548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60C9E2-7115-B01A-5D21-8A1E50A7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30216-19DD-C666-0DA2-93AD21136AA9}"/>
              </a:ext>
            </a:extLst>
          </p:cNvPr>
          <p:cNvSpPr txBox="1"/>
          <p:nvPr/>
        </p:nvSpPr>
        <p:spPr bwMode="auto">
          <a:xfrm>
            <a:off x="157655" y="858946"/>
            <a:ext cx="8671035" cy="34163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dirty="0"/>
              <a:t>CREATE INDEX </a:t>
            </a:r>
            <a:r>
              <a:rPr lang="en-IN" dirty="0" err="1"/>
              <a:t>students_name_idx</a:t>
            </a:r>
            <a:r>
              <a:rPr lang="en-IN" dirty="0"/>
              <a:t> ON students USING gin (</a:t>
            </a:r>
            <a:r>
              <a:rPr lang="en-IN" dirty="0" err="1"/>
              <a:t>to_tsvector</a:t>
            </a:r>
            <a:r>
              <a:rPr lang="en-IN" dirty="0"/>
              <a:t>('</a:t>
            </a:r>
            <a:r>
              <a:rPr lang="en-IN" dirty="0" err="1"/>
              <a:t>english</a:t>
            </a:r>
            <a:r>
              <a:rPr lang="en-IN" dirty="0"/>
              <a:t>', coalesce(</a:t>
            </a:r>
            <a:r>
              <a:rPr lang="en-IN" dirty="0" err="1"/>
              <a:t>first_name</a:t>
            </a:r>
            <a:r>
              <a:rPr lang="en-IN" dirty="0"/>
              <a:t>,'') || ' ' || coalesce(</a:t>
            </a:r>
            <a:r>
              <a:rPr lang="en-IN" dirty="0" err="1"/>
              <a:t>last_name</a:t>
            </a:r>
            <a:r>
              <a:rPr lang="en-IN" dirty="0"/>
              <a:t>,'')));</a:t>
            </a:r>
          </a:p>
          <a:p>
            <a:r>
              <a:rPr lang="en-IN" dirty="0"/>
              <a:t>CREATE INDEX </a:t>
            </a:r>
            <a:r>
              <a:rPr lang="en-IN" dirty="0" err="1"/>
              <a:t>students_class_section_idx</a:t>
            </a:r>
            <a:r>
              <a:rPr lang="en-IN" dirty="0"/>
              <a:t> ON students (class, section);</a:t>
            </a:r>
          </a:p>
          <a:p>
            <a:endParaRPr lang="en-IN" dirty="0"/>
          </a:p>
          <a:p>
            <a:r>
              <a:rPr lang="en-IN" dirty="0"/>
              <a:t>4 — API design (example)</a:t>
            </a:r>
          </a:p>
          <a:p>
            <a:r>
              <a:rPr lang="en-IN" dirty="0"/>
              <a:t>All endpoints under /</a:t>
            </a:r>
            <a:r>
              <a:rPr lang="en-IN" dirty="0" err="1"/>
              <a:t>api</a:t>
            </a:r>
            <a:r>
              <a:rPr lang="en-IN" dirty="0"/>
              <a:t>/v1</a:t>
            </a:r>
          </a:p>
          <a:p>
            <a:r>
              <a:rPr lang="en-IN" dirty="0"/>
              <a:t>Auth:</a:t>
            </a:r>
          </a:p>
          <a:p>
            <a:endParaRPr lang="en-IN" dirty="0"/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/v1/auth/login — body: {email, password} → returns {</a:t>
            </a:r>
            <a:r>
              <a:rPr lang="en-IN" dirty="0" err="1"/>
              <a:t>accessToken</a:t>
            </a:r>
            <a:r>
              <a:rPr lang="en-IN" dirty="0"/>
              <a:t>, </a:t>
            </a:r>
            <a:r>
              <a:rPr lang="en-IN" dirty="0" err="1"/>
              <a:t>refreshToken</a:t>
            </a:r>
            <a:r>
              <a:rPr lang="en-IN" dirty="0"/>
              <a:t>}</a:t>
            </a:r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/v1/auth/refresh — body: {</a:t>
            </a:r>
            <a:r>
              <a:rPr lang="en-IN" dirty="0" err="1"/>
              <a:t>refreshToken</a:t>
            </a:r>
            <a:r>
              <a:rPr lang="en-IN" dirty="0"/>
              <a:t>} → new </a:t>
            </a:r>
            <a:r>
              <a:rPr lang="en-IN" dirty="0" err="1"/>
              <a:t>accessToken</a:t>
            </a:r>
            <a:endParaRPr lang="en-IN" dirty="0"/>
          </a:p>
          <a:p>
            <a:r>
              <a:rPr lang="en-IN" dirty="0"/>
              <a:t>POST /</a:t>
            </a:r>
            <a:r>
              <a:rPr lang="en-IN" dirty="0" err="1"/>
              <a:t>api</a:t>
            </a:r>
            <a:r>
              <a:rPr lang="en-IN" dirty="0"/>
              <a:t>/v1/auth/logout — blacklist refresh token</a:t>
            </a:r>
          </a:p>
        </p:txBody>
      </p:sp>
    </p:spTree>
    <p:extLst>
      <p:ext uri="{BB962C8B-B14F-4D97-AF65-F5344CB8AC3E}">
        <p14:creationId xmlns:p14="http://schemas.microsoft.com/office/powerpoint/2010/main" val="136660935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2D771C-CACF-45BF-7E00-103EEAD7F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A8CB3-D18D-A669-6384-BFD6EB3B37BF}"/>
              </a:ext>
            </a:extLst>
          </p:cNvPr>
          <p:cNvSpPr txBox="1"/>
          <p:nvPr/>
        </p:nvSpPr>
        <p:spPr bwMode="auto">
          <a:xfrm>
            <a:off x="291663" y="737232"/>
            <a:ext cx="9144000" cy="286232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         5 — Auth flow &amp; security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Passwords: </a:t>
            </a:r>
            <a:r>
              <a:rPr lang="en-IN" b="1" dirty="0" err="1"/>
              <a:t>bcrypt</a:t>
            </a:r>
            <a:r>
              <a:rPr lang="en-IN" dirty="0"/>
              <a:t> (salt rounds &gt;= 10)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Tokens: short lived </a:t>
            </a:r>
            <a:r>
              <a:rPr lang="en-IN" b="1" dirty="0"/>
              <a:t>JWT</a:t>
            </a:r>
            <a:r>
              <a:rPr lang="en-IN" dirty="0"/>
              <a:t> (e.g. 15m) + long-lived </a:t>
            </a:r>
            <a:r>
              <a:rPr lang="en-IN" b="1" dirty="0"/>
              <a:t>refresh token</a:t>
            </a:r>
            <a:r>
              <a:rPr lang="en-IN" dirty="0"/>
              <a:t> stored hashed in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cookies for tokens (if using SSR/Next.js) or Authorization header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Rate limiting using </a:t>
            </a:r>
            <a:r>
              <a:rPr lang="en-IN" dirty="0">
                <a:latin typeface="Courier New" panose="02070309020205020404" pitchFamily="49" charset="0"/>
              </a:rPr>
              <a:t>express-rate-limit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Input validation with </a:t>
            </a:r>
            <a:r>
              <a:rPr lang="en-IN" b="1" dirty="0"/>
              <a:t>Zod</a:t>
            </a:r>
            <a:r>
              <a:rPr lang="en-IN" dirty="0"/>
              <a:t> / Joi, sanitize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HTTPS, HSTS, CORS whitelist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Protect file uploads: virus scan, content-type check, size limit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 sensitive config in environment variables / secrets manager</a:t>
            </a:r>
          </a:p>
        </p:txBody>
      </p:sp>
    </p:spTree>
    <p:extLst>
      <p:ext uri="{BB962C8B-B14F-4D97-AF65-F5344CB8AC3E}">
        <p14:creationId xmlns:p14="http://schemas.microsoft.com/office/powerpoint/2010/main" val="33374048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9749F6-AEEB-2DF5-A135-3D4C9F8CD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ABDC9-FE62-85BF-5E05-3143B17CB143}"/>
              </a:ext>
            </a:extLst>
          </p:cNvPr>
          <p:cNvSpPr txBox="1"/>
          <p:nvPr/>
        </p:nvSpPr>
        <p:spPr bwMode="auto">
          <a:xfrm>
            <a:off x="252249" y="489710"/>
            <a:ext cx="9144000" cy="34163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6 — Search &amp; filtering implementation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Small scale: </a:t>
            </a:r>
            <a:r>
              <a:rPr lang="en-IN" b="1" dirty="0"/>
              <a:t>Postgres </a:t>
            </a:r>
            <a:r>
              <a:rPr lang="en-IN" b="1" dirty="0">
                <a:latin typeface="Courier New" panose="02070309020205020404" pitchFamily="49" charset="0"/>
              </a:rPr>
              <a:t>ILIKE</a:t>
            </a:r>
            <a:r>
              <a:rPr lang="en-IN" b="1" dirty="0"/>
              <a:t> + </a:t>
            </a:r>
            <a:r>
              <a:rPr lang="en-IN" b="1" dirty="0">
                <a:latin typeface="Courier New" panose="02070309020205020404" pitchFamily="49" charset="0"/>
              </a:rPr>
              <a:t>LIMIT/OFFSET</a:t>
            </a:r>
            <a:r>
              <a:rPr lang="en-IN" b="1" dirty="0"/>
              <a:t> with </a:t>
            </a:r>
            <a:r>
              <a:rPr lang="en-IN" b="1" dirty="0">
                <a:latin typeface="Courier New" panose="02070309020205020404" pitchFamily="49" charset="0"/>
              </a:rPr>
              <a:t>GIN</a:t>
            </a:r>
            <a:r>
              <a:rPr lang="en-IN" b="1" dirty="0"/>
              <a:t> </a:t>
            </a:r>
            <a:r>
              <a:rPr lang="en-IN" dirty="0"/>
              <a:t>full-text index for names.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Fuzzy search: </a:t>
            </a:r>
            <a:r>
              <a:rPr lang="en-IN" b="1" dirty="0" err="1">
                <a:latin typeface="Courier New" panose="02070309020205020404" pitchFamily="49" charset="0"/>
              </a:rPr>
              <a:t>pg_trgm</a:t>
            </a:r>
            <a:r>
              <a:rPr lang="en-IN" b="1" dirty="0"/>
              <a:t> </a:t>
            </a:r>
            <a:r>
              <a:rPr lang="en-IN" dirty="0"/>
              <a:t>extension + </a:t>
            </a:r>
            <a:r>
              <a:rPr lang="en-IN" b="1" dirty="0">
                <a:latin typeface="Courier New" panose="02070309020205020404" pitchFamily="49" charset="0"/>
              </a:rPr>
              <a:t>SIMILARITY()</a:t>
            </a:r>
            <a:r>
              <a:rPr lang="en-IN" b="1" dirty="0"/>
              <a:t> </a:t>
            </a:r>
            <a:r>
              <a:rPr lang="en-IN" dirty="0"/>
              <a:t>+ trigram index.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 advanced usage: index records in Elasticsearch / </a:t>
            </a:r>
            <a:r>
              <a:rPr lang="en-IN" dirty="0" err="1"/>
              <a:t>Meilisearch</a:t>
            </a:r>
            <a:r>
              <a:rPr lang="en-IN" dirty="0"/>
              <a:t> / </a:t>
            </a:r>
            <a:r>
              <a:rPr lang="en-IN" dirty="0" err="1"/>
              <a:t>Typesense</a:t>
            </a:r>
            <a:r>
              <a:rPr lang="en-IN" dirty="0"/>
              <a:t>; keep in sync via change data capture or after-commit hooks.</a:t>
            </a:r>
          </a:p>
          <a:p>
            <a:pPr>
              <a:buNone/>
            </a:pPr>
            <a:r>
              <a:rPr lang="en-IN" dirty="0"/>
              <a:t>Example Postgres full-text search: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SELECT * FROM students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WHERE </a:t>
            </a:r>
            <a:r>
              <a:rPr lang="en-IN" b="1" dirty="0" err="1">
                <a:latin typeface="Courier New" panose="02070309020205020404" pitchFamily="49" charset="0"/>
              </a:rPr>
              <a:t>to_tsvector</a:t>
            </a:r>
            <a:r>
              <a:rPr lang="en-IN" b="1" dirty="0">
                <a:latin typeface="Courier New" panose="02070309020205020404" pitchFamily="49" charset="0"/>
              </a:rPr>
              <a:t>('</a:t>
            </a:r>
            <a:r>
              <a:rPr lang="en-IN" b="1" dirty="0" err="1">
                <a:latin typeface="Courier New" panose="02070309020205020404" pitchFamily="49" charset="0"/>
              </a:rPr>
              <a:t>english</a:t>
            </a:r>
            <a:r>
              <a:rPr lang="en-IN" b="1" dirty="0">
                <a:latin typeface="Courier New" panose="02070309020205020404" pitchFamily="49" charset="0"/>
              </a:rPr>
              <a:t>', </a:t>
            </a:r>
            <a:r>
              <a:rPr lang="en-IN" b="1" dirty="0" err="1">
                <a:latin typeface="Courier New" panose="02070309020205020404" pitchFamily="49" charset="0"/>
              </a:rPr>
              <a:t>first_name</a:t>
            </a:r>
            <a:r>
              <a:rPr lang="en-IN" b="1" dirty="0">
                <a:latin typeface="Courier New" panose="02070309020205020404" pitchFamily="49" charset="0"/>
              </a:rPr>
              <a:t> || ' ' || </a:t>
            </a:r>
            <a:r>
              <a:rPr lang="en-IN" b="1" dirty="0" err="1">
                <a:latin typeface="Courier New" panose="02070309020205020404" pitchFamily="49" charset="0"/>
              </a:rPr>
              <a:t>last_name</a:t>
            </a:r>
            <a:r>
              <a:rPr lang="en-IN" b="1" dirty="0">
                <a:latin typeface="Courier New" panose="02070309020205020404" pitchFamily="49" charset="0"/>
              </a:rPr>
              <a:t>) @@ </a:t>
            </a:r>
            <a:r>
              <a:rPr lang="en-IN" b="1" dirty="0" err="1">
                <a:latin typeface="Courier New" panose="02070309020205020404" pitchFamily="49" charset="0"/>
              </a:rPr>
              <a:t>plainto_tsquery</a:t>
            </a:r>
            <a:r>
              <a:rPr lang="en-IN" b="1" dirty="0">
                <a:latin typeface="Courier New" panose="02070309020205020404" pitchFamily="49" charset="0"/>
              </a:rPr>
              <a:t>('john')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ORDER BY </a:t>
            </a:r>
            <a:r>
              <a:rPr lang="en-IN" b="1" dirty="0" err="1">
                <a:latin typeface="Courier New" panose="02070309020205020404" pitchFamily="49" charset="0"/>
              </a:rPr>
              <a:t>ts_rank</a:t>
            </a:r>
            <a:r>
              <a:rPr lang="en-IN" b="1" dirty="0">
                <a:latin typeface="Courier New" panose="02070309020205020404" pitchFamily="49" charset="0"/>
              </a:rPr>
              <a:t>(... ) DESC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LIMIT 25;</a:t>
            </a:r>
          </a:p>
        </p:txBody>
      </p:sp>
    </p:spTree>
    <p:extLst>
      <p:ext uri="{BB962C8B-B14F-4D97-AF65-F5344CB8AC3E}">
        <p14:creationId xmlns:p14="http://schemas.microsoft.com/office/powerpoint/2010/main" val="292355472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A04AB8-407B-49EB-8293-646CCA590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D2C59-93FA-4385-F257-E016A60F141B}"/>
              </a:ext>
            </a:extLst>
          </p:cNvPr>
          <p:cNvSpPr txBox="1"/>
          <p:nvPr/>
        </p:nvSpPr>
        <p:spPr bwMode="auto">
          <a:xfrm>
            <a:off x="228600" y="461418"/>
            <a:ext cx="9144000" cy="397031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7 — Reporting: PDF &amp; Excel generation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Excel (server-side)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 err="1"/>
              <a:t>exceljs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Create workbook, add worksheet, set header rows, map student objects, auto-size columns, format dates.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Stream response as </a:t>
            </a:r>
            <a:r>
              <a:rPr lang="en-IN" b="1" dirty="0">
                <a:latin typeface="Courier New" panose="02070309020205020404" pitchFamily="49" charset="0"/>
              </a:rPr>
              <a:t>application/</a:t>
            </a:r>
            <a:r>
              <a:rPr lang="en-IN" b="1" dirty="0" err="1">
                <a:latin typeface="Courier New" panose="02070309020205020404" pitchFamily="49" charset="0"/>
              </a:rPr>
              <a:t>vnd.openxmlformats-officedocument.spreadsheetml.sheet</a:t>
            </a:r>
            <a:r>
              <a:rPr lang="en-IN" b="1" dirty="0"/>
              <a:t>.</a:t>
            </a:r>
          </a:p>
          <a:p>
            <a:pPr>
              <a:buNone/>
            </a:pPr>
            <a:r>
              <a:rPr lang="en-IN" b="1" dirty="0"/>
              <a:t>PDF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Option A (best-looking): render an HTML template (React/Handlebars/EJS) and use </a:t>
            </a:r>
            <a:r>
              <a:rPr lang="en-IN" b="1" dirty="0"/>
              <a:t>Puppeteer</a:t>
            </a:r>
            <a:r>
              <a:rPr lang="en-IN" dirty="0"/>
              <a:t> to generate PDF from headless Chromium (pixel-perfect).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Option B: Generate with </a:t>
            </a:r>
            <a:r>
              <a:rPr lang="en-IN" b="1" dirty="0" err="1"/>
              <a:t>pdfkit</a:t>
            </a:r>
            <a:r>
              <a:rPr lang="en-IN" dirty="0"/>
              <a:t> for programmatic PDFs.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Streaming: stream PDF bytes directly as response </a:t>
            </a:r>
            <a:r>
              <a:rPr lang="en-IN" b="1" dirty="0"/>
              <a:t>with </a:t>
            </a:r>
            <a:r>
              <a:rPr lang="en-IN" b="1" dirty="0">
                <a:latin typeface="Courier New" panose="02070309020205020404" pitchFamily="49" charset="0"/>
              </a:rPr>
              <a:t>Content-Disposition: attachment; filename="report.pdf"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2782677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429B2-BD63-539E-5C54-F9A97502D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6B626-6196-F0AD-3CFC-AE94BF6AA8AF}"/>
              </a:ext>
            </a:extLst>
          </p:cNvPr>
          <p:cNvSpPr txBox="1"/>
          <p:nvPr/>
        </p:nvSpPr>
        <p:spPr bwMode="auto">
          <a:xfrm>
            <a:off x="94593" y="16130"/>
            <a:ext cx="9144000" cy="4801314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     Small node example for Excel: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import </a:t>
            </a:r>
            <a:r>
              <a:rPr lang="en-IN" b="1" dirty="0" err="1">
                <a:latin typeface="Courier New" panose="02070309020205020404" pitchFamily="49" charset="0"/>
              </a:rPr>
              <a:t>ExcelJS</a:t>
            </a:r>
            <a:r>
              <a:rPr lang="en-IN" b="1" dirty="0">
                <a:latin typeface="Courier New" panose="02070309020205020404" pitchFamily="49" charset="0"/>
              </a:rPr>
              <a:t> from '</a:t>
            </a:r>
            <a:r>
              <a:rPr lang="en-IN" b="1" dirty="0" err="1">
                <a:latin typeface="Courier New" panose="02070309020205020404" pitchFamily="49" charset="0"/>
              </a:rPr>
              <a:t>exceljs</a:t>
            </a:r>
            <a:r>
              <a:rPr lang="en-IN" b="1" dirty="0">
                <a:latin typeface="Courier New" panose="02070309020205020404" pitchFamily="49" charset="0"/>
              </a:rPr>
              <a:t>';</a:t>
            </a:r>
          </a:p>
          <a:p>
            <a:pPr rtl="0">
              <a:buNone/>
            </a:pPr>
            <a:r>
              <a:rPr lang="en-IN" b="1" dirty="0" err="1">
                <a:latin typeface="Courier New" panose="02070309020205020404" pitchFamily="49" charset="0"/>
              </a:rPr>
              <a:t>app.get</a:t>
            </a:r>
            <a:r>
              <a:rPr lang="en-IN" b="1" dirty="0">
                <a:latin typeface="Courier New" panose="02070309020205020404" pitchFamily="49" charset="0"/>
              </a:rPr>
              <a:t>('/students/export.xlsx', async (</a:t>
            </a:r>
            <a:r>
              <a:rPr lang="en-IN" b="1" dirty="0" err="1">
                <a:latin typeface="Courier New" panose="02070309020205020404" pitchFamily="49" charset="0"/>
              </a:rPr>
              <a:t>req</a:t>
            </a:r>
            <a:r>
              <a:rPr lang="en-IN" b="1" dirty="0">
                <a:latin typeface="Courier New" panose="02070309020205020404" pitchFamily="49" charset="0"/>
              </a:rPr>
              <a:t>, res) =&gt; {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students = await </a:t>
            </a:r>
            <a:r>
              <a:rPr lang="en-IN" b="1" dirty="0" err="1">
                <a:latin typeface="Courier New" panose="02070309020205020404" pitchFamily="49" charset="0"/>
              </a:rPr>
              <a:t>getFilteredStudents</a:t>
            </a:r>
            <a:r>
              <a:rPr lang="en-IN" b="1" dirty="0">
                <a:latin typeface="Courier New" panose="02070309020205020404" pitchFamily="49" charset="0"/>
              </a:rPr>
              <a:t>(</a:t>
            </a:r>
            <a:r>
              <a:rPr lang="en-IN" b="1" dirty="0" err="1">
                <a:latin typeface="Courier New" panose="02070309020205020404" pitchFamily="49" charset="0"/>
              </a:rPr>
              <a:t>req.query</a:t>
            </a:r>
            <a:r>
              <a:rPr lang="en-IN" b="1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wb</a:t>
            </a:r>
            <a:r>
              <a:rPr lang="en-IN" b="1" dirty="0">
                <a:latin typeface="Courier New" panose="02070309020205020404" pitchFamily="49" charset="0"/>
              </a:rPr>
              <a:t> = new </a:t>
            </a:r>
            <a:r>
              <a:rPr lang="en-IN" b="1" dirty="0" err="1">
                <a:latin typeface="Courier New" panose="02070309020205020404" pitchFamily="49" charset="0"/>
              </a:rPr>
              <a:t>ExcelJS.Workbook</a:t>
            </a:r>
            <a:r>
              <a:rPr lang="en-IN" b="1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ws</a:t>
            </a:r>
            <a:r>
              <a:rPr lang="en-IN" b="1" dirty="0">
                <a:latin typeface="Courier New" panose="02070309020205020404" pitchFamily="49" charset="0"/>
              </a:rPr>
              <a:t> = </a:t>
            </a:r>
            <a:r>
              <a:rPr lang="en-IN" b="1" dirty="0" err="1">
                <a:latin typeface="Courier New" panose="02070309020205020404" pitchFamily="49" charset="0"/>
              </a:rPr>
              <a:t>wb.addWorksheet</a:t>
            </a:r>
            <a:r>
              <a:rPr lang="en-IN" b="1" dirty="0">
                <a:latin typeface="Courier New" panose="02070309020205020404" pitchFamily="49" charset="0"/>
              </a:rPr>
              <a:t>('Students');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ws.addRow</a:t>
            </a:r>
            <a:r>
              <a:rPr lang="en-IN" b="1" dirty="0">
                <a:latin typeface="Courier New" panose="02070309020205020404" pitchFamily="49" charset="0"/>
              </a:rPr>
              <a:t>(['First </a:t>
            </a:r>
            <a:r>
              <a:rPr lang="en-IN" b="1" dirty="0" err="1">
                <a:latin typeface="Courier New" panose="02070309020205020404" pitchFamily="49" charset="0"/>
              </a:rPr>
              <a:t>name','Last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name','Class','Section','Admission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No','Phone</a:t>
            </a:r>
            <a:r>
              <a:rPr lang="en-IN" b="1" dirty="0">
                <a:latin typeface="Courier New" panose="02070309020205020404" pitchFamily="49" charset="0"/>
              </a:rPr>
              <a:t>']);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students.forEach</a:t>
            </a:r>
            <a:r>
              <a:rPr lang="en-IN" b="1" dirty="0">
                <a:latin typeface="Courier New" panose="02070309020205020404" pitchFamily="49" charset="0"/>
              </a:rPr>
              <a:t>(s =&gt; </a:t>
            </a:r>
            <a:r>
              <a:rPr lang="en-IN" b="1" dirty="0" err="1">
                <a:latin typeface="Courier New" panose="02070309020205020404" pitchFamily="49" charset="0"/>
              </a:rPr>
              <a:t>ws.addRow</a:t>
            </a:r>
            <a:r>
              <a:rPr lang="en-IN" b="1" dirty="0">
                <a:latin typeface="Courier New" panose="02070309020205020404" pitchFamily="49" charset="0"/>
              </a:rPr>
              <a:t>([</a:t>
            </a:r>
            <a:r>
              <a:rPr lang="en-IN" b="1" dirty="0" err="1">
                <a:latin typeface="Courier New" panose="02070309020205020404" pitchFamily="49" charset="0"/>
              </a:rPr>
              <a:t>s.first_name</a:t>
            </a:r>
            <a:r>
              <a:rPr lang="en-IN" b="1" dirty="0">
                <a:latin typeface="Courier New" panose="02070309020205020404" pitchFamily="49" charset="0"/>
              </a:rPr>
              <a:t>, </a:t>
            </a:r>
            <a:r>
              <a:rPr lang="en-IN" b="1" dirty="0" err="1">
                <a:latin typeface="Courier New" panose="02070309020205020404" pitchFamily="49" charset="0"/>
              </a:rPr>
              <a:t>s.last_name</a:t>
            </a:r>
            <a:r>
              <a:rPr lang="en-IN" b="1" dirty="0">
                <a:latin typeface="Courier New" panose="02070309020205020404" pitchFamily="49" charset="0"/>
              </a:rPr>
              <a:t>, </a:t>
            </a:r>
            <a:r>
              <a:rPr lang="en-IN" b="1" dirty="0" err="1">
                <a:latin typeface="Courier New" panose="02070309020205020404" pitchFamily="49" charset="0"/>
              </a:rPr>
              <a:t>s.class</a:t>
            </a:r>
            <a:r>
              <a:rPr lang="en-IN" b="1" dirty="0">
                <a:latin typeface="Courier New" panose="02070309020205020404" pitchFamily="49" charset="0"/>
              </a:rPr>
              <a:t>, </a:t>
            </a:r>
            <a:r>
              <a:rPr lang="en-IN" b="1" dirty="0" err="1">
                <a:latin typeface="Courier New" panose="02070309020205020404" pitchFamily="49" charset="0"/>
              </a:rPr>
              <a:t>s.section</a:t>
            </a:r>
            <a:r>
              <a:rPr lang="en-IN" b="1" dirty="0">
                <a:latin typeface="Courier New" panose="02070309020205020404" pitchFamily="49" charset="0"/>
              </a:rPr>
              <a:t>, </a:t>
            </a:r>
            <a:r>
              <a:rPr lang="en-IN" b="1" dirty="0" err="1">
                <a:latin typeface="Courier New" panose="02070309020205020404" pitchFamily="49" charset="0"/>
              </a:rPr>
              <a:t>s.admission_no</a:t>
            </a:r>
            <a:r>
              <a:rPr lang="en-IN" b="1" dirty="0">
                <a:latin typeface="Courier New" panose="02070309020205020404" pitchFamily="49" charset="0"/>
              </a:rPr>
              <a:t>, </a:t>
            </a:r>
            <a:r>
              <a:rPr lang="en-IN" b="1" dirty="0" err="1">
                <a:latin typeface="Courier New" panose="02070309020205020404" pitchFamily="49" charset="0"/>
              </a:rPr>
              <a:t>s.phone</a:t>
            </a:r>
            <a:r>
              <a:rPr lang="en-IN" b="1" dirty="0">
                <a:latin typeface="Courier New" panose="02070309020205020404" pitchFamily="49" charset="0"/>
              </a:rPr>
              <a:t>]));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res.setHeader</a:t>
            </a:r>
            <a:r>
              <a:rPr lang="en-IN" b="1" dirty="0">
                <a:latin typeface="Courier New" panose="02070309020205020404" pitchFamily="49" charset="0"/>
              </a:rPr>
              <a:t>('Content-Type', 'application/</a:t>
            </a:r>
            <a:r>
              <a:rPr lang="en-IN" b="1" dirty="0" err="1">
                <a:latin typeface="Courier New" panose="02070309020205020404" pitchFamily="49" charset="0"/>
              </a:rPr>
              <a:t>vnd.openxmlformats-officedocument.spreadsheetml.sheet</a:t>
            </a:r>
            <a:r>
              <a:rPr lang="en-IN" b="1" dirty="0">
                <a:latin typeface="Courier New" panose="02070309020205020404" pitchFamily="49" charset="0"/>
              </a:rPr>
              <a:t>');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res.setHeader</a:t>
            </a:r>
            <a:r>
              <a:rPr lang="en-IN" b="1" dirty="0">
                <a:latin typeface="Courier New" panose="02070309020205020404" pitchFamily="49" charset="0"/>
              </a:rPr>
              <a:t>('Content-Disposition', 'attachment; filename=students.xlsx');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await </a:t>
            </a:r>
            <a:r>
              <a:rPr lang="en-IN" b="1" dirty="0" err="1">
                <a:latin typeface="Courier New" panose="02070309020205020404" pitchFamily="49" charset="0"/>
              </a:rPr>
              <a:t>wb.xlsx.write</a:t>
            </a:r>
            <a:r>
              <a:rPr lang="en-IN" b="1" dirty="0">
                <a:latin typeface="Courier New" panose="02070309020205020404" pitchFamily="49" charset="0"/>
              </a:rPr>
              <a:t>(res);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res.end</a:t>
            </a:r>
            <a:r>
              <a:rPr lang="en-IN" b="1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3901051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D794C6-EC27-BDDF-21D3-471C56FED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AD299-D502-23B7-B4CF-CD3D15F85DDC}"/>
              </a:ext>
            </a:extLst>
          </p:cNvPr>
          <p:cNvSpPr txBox="1"/>
          <p:nvPr/>
        </p:nvSpPr>
        <p:spPr bwMode="auto">
          <a:xfrm>
            <a:off x="220717" y="237394"/>
            <a:ext cx="9144000" cy="452431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Small node example for PDF with Puppeteer: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import puppeteer from 'puppeteer';</a:t>
            </a:r>
          </a:p>
          <a:p>
            <a:pPr rtl="0">
              <a:buNone/>
            </a:pPr>
            <a:r>
              <a:rPr lang="en-IN" b="1" dirty="0" err="1">
                <a:latin typeface="Courier New" panose="02070309020205020404" pitchFamily="49" charset="0"/>
              </a:rPr>
              <a:t>app.get</a:t>
            </a:r>
            <a:r>
              <a:rPr lang="en-IN" b="1" dirty="0">
                <a:latin typeface="Courier New" panose="02070309020205020404" pitchFamily="49" charset="0"/>
              </a:rPr>
              <a:t>('/students/:id/report.pdf', async (</a:t>
            </a:r>
            <a:r>
              <a:rPr lang="en-IN" b="1" dirty="0" err="1">
                <a:latin typeface="Courier New" panose="02070309020205020404" pitchFamily="49" charset="0"/>
              </a:rPr>
              <a:t>req</a:t>
            </a:r>
            <a:r>
              <a:rPr lang="en-IN" b="1" dirty="0">
                <a:latin typeface="Courier New" panose="02070309020205020404" pitchFamily="49" charset="0"/>
              </a:rPr>
              <a:t>, res) =&gt; {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student = await </a:t>
            </a:r>
            <a:r>
              <a:rPr lang="en-IN" b="1" dirty="0" err="1">
                <a:latin typeface="Courier New" panose="02070309020205020404" pitchFamily="49" charset="0"/>
              </a:rPr>
              <a:t>getStudentById</a:t>
            </a:r>
            <a:r>
              <a:rPr lang="en-IN" b="1" dirty="0">
                <a:latin typeface="Courier New" panose="02070309020205020404" pitchFamily="49" charset="0"/>
              </a:rPr>
              <a:t>(req.params.id);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html = </a:t>
            </a:r>
            <a:r>
              <a:rPr lang="en-IN" b="1" dirty="0" err="1">
                <a:latin typeface="Courier New" panose="02070309020205020404" pitchFamily="49" charset="0"/>
              </a:rPr>
              <a:t>renderTemplate</a:t>
            </a:r>
            <a:r>
              <a:rPr lang="en-IN" b="1" dirty="0">
                <a:latin typeface="Courier New" panose="02070309020205020404" pitchFamily="49" charset="0"/>
              </a:rPr>
              <a:t>('</a:t>
            </a:r>
            <a:r>
              <a:rPr lang="en-IN" b="1" dirty="0" err="1">
                <a:latin typeface="Courier New" panose="02070309020205020404" pitchFamily="49" charset="0"/>
              </a:rPr>
              <a:t>studentReport</a:t>
            </a:r>
            <a:r>
              <a:rPr lang="en-IN" b="1" dirty="0">
                <a:latin typeface="Courier New" panose="02070309020205020404" pitchFamily="49" charset="0"/>
              </a:rPr>
              <a:t>', { student }); // server-side render HTML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browser = await </a:t>
            </a:r>
            <a:r>
              <a:rPr lang="en-IN" b="1" dirty="0" err="1">
                <a:latin typeface="Courier New" panose="02070309020205020404" pitchFamily="49" charset="0"/>
              </a:rPr>
              <a:t>puppeteer.launch</a:t>
            </a:r>
            <a:r>
              <a:rPr lang="en-IN" b="1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page = await </a:t>
            </a:r>
            <a:r>
              <a:rPr lang="en-IN" b="1" dirty="0" err="1">
                <a:latin typeface="Courier New" panose="02070309020205020404" pitchFamily="49" charset="0"/>
              </a:rPr>
              <a:t>browser.newPage</a:t>
            </a:r>
            <a:r>
              <a:rPr lang="en-IN" b="1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await </a:t>
            </a:r>
            <a:r>
              <a:rPr lang="en-IN" b="1" dirty="0" err="1">
                <a:latin typeface="Courier New" panose="02070309020205020404" pitchFamily="49" charset="0"/>
              </a:rPr>
              <a:t>page.setContent</a:t>
            </a:r>
            <a:r>
              <a:rPr lang="en-IN" b="1" dirty="0">
                <a:latin typeface="Courier New" panose="02070309020205020404" pitchFamily="49" charset="0"/>
              </a:rPr>
              <a:t>(html, { </a:t>
            </a:r>
            <a:r>
              <a:rPr lang="en-IN" b="1" dirty="0" err="1">
                <a:latin typeface="Courier New" panose="02070309020205020404" pitchFamily="49" charset="0"/>
              </a:rPr>
              <a:t>waitUntil</a:t>
            </a:r>
            <a:r>
              <a:rPr lang="en-IN" b="1" dirty="0">
                <a:latin typeface="Courier New" panose="02070309020205020404" pitchFamily="49" charset="0"/>
              </a:rPr>
              <a:t>: 'networkidle0' });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const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pdfBuffer</a:t>
            </a:r>
            <a:r>
              <a:rPr lang="en-IN" b="1" dirty="0">
                <a:latin typeface="Courier New" panose="02070309020205020404" pitchFamily="49" charset="0"/>
              </a:rPr>
              <a:t> = await page.pdf({ format: 'A4' });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await </a:t>
            </a:r>
            <a:r>
              <a:rPr lang="en-IN" b="1" dirty="0" err="1">
                <a:latin typeface="Courier New" panose="02070309020205020404" pitchFamily="49" charset="0"/>
              </a:rPr>
              <a:t>browser.close</a:t>
            </a:r>
            <a:r>
              <a:rPr lang="en-IN" b="1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res.setHeader</a:t>
            </a:r>
            <a:r>
              <a:rPr lang="en-IN" b="1" dirty="0">
                <a:latin typeface="Courier New" panose="02070309020205020404" pitchFamily="49" charset="0"/>
              </a:rPr>
              <a:t>('Content-Type', 'application/pdf');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res.setHeader</a:t>
            </a:r>
            <a:r>
              <a:rPr lang="en-IN" b="1" dirty="0">
                <a:latin typeface="Courier New" panose="02070309020205020404" pitchFamily="49" charset="0"/>
              </a:rPr>
              <a:t>('Content-Disposition', `attachment; filename=student-${</a:t>
            </a:r>
            <a:r>
              <a:rPr lang="en-IN" b="1" dirty="0" err="1">
                <a:latin typeface="Courier New" panose="02070309020205020404" pitchFamily="49" charset="0"/>
              </a:rPr>
              <a:t>student.admission_no</a:t>
            </a:r>
            <a:r>
              <a:rPr lang="en-IN" b="1" dirty="0">
                <a:latin typeface="Courier New" panose="02070309020205020404" pitchFamily="49" charset="0"/>
              </a:rPr>
              <a:t>}.pdf`);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  </a:t>
            </a:r>
            <a:r>
              <a:rPr lang="en-IN" b="1" dirty="0" err="1">
                <a:latin typeface="Courier New" panose="02070309020205020404" pitchFamily="49" charset="0"/>
              </a:rPr>
              <a:t>res.send</a:t>
            </a:r>
            <a:r>
              <a:rPr lang="en-IN" b="1" dirty="0">
                <a:latin typeface="Courier New" panose="02070309020205020404" pitchFamily="49" charset="0"/>
              </a:rPr>
              <a:t>(</a:t>
            </a:r>
            <a:r>
              <a:rPr lang="en-IN" b="1" dirty="0" err="1">
                <a:latin typeface="Courier New" panose="02070309020205020404" pitchFamily="49" charset="0"/>
              </a:rPr>
              <a:t>pdfBuffer</a:t>
            </a:r>
            <a:r>
              <a:rPr lang="en-IN" b="1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18497453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4D2AC9-D440-7745-0635-98D6A4F70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8ADD2-BDC7-EF04-8CEB-EDFCE67E4145}"/>
              </a:ext>
            </a:extLst>
          </p:cNvPr>
          <p:cNvSpPr txBox="1"/>
          <p:nvPr/>
        </p:nvSpPr>
        <p:spPr bwMode="auto">
          <a:xfrm>
            <a:off x="141890" y="344280"/>
            <a:ext cx="9144000" cy="452431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8 — Frontend structure &amp; components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Project: React + TypeScript (Next.js)</a:t>
            </a:r>
          </a:p>
          <a:p>
            <a:pPr>
              <a:buNone/>
            </a:pPr>
            <a:r>
              <a:rPr lang="en-IN" dirty="0"/>
              <a:t>Pages /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Login</a:t>
            </a:r>
            <a:r>
              <a:rPr lang="en-IN" b="1" dirty="0"/>
              <a:t>, </a:t>
            </a:r>
            <a:r>
              <a:rPr lang="en-IN" b="1" dirty="0">
                <a:latin typeface="Courier New" panose="02070309020205020404" pitchFamily="49" charset="0"/>
              </a:rPr>
              <a:t>Register/Invite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Dashboard</a:t>
            </a:r>
            <a:r>
              <a:rPr lang="en-IN" b="1" dirty="0"/>
              <a:t> (role-based)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Students/List</a:t>
            </a:r>
            <a:r>
              <a:rPr lang="en-IN" b="1" dirty="0"/>
              <a:t> — table with search, filters, pagination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Students/Detail</a:t>
            </a:r>
            <a:r>
              <a:rPr lang="en-IN" b="1" dirty="0"/>
              <a:t> — view student, download PDF, edit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Students/Edit</a:t>
            </a:r>
            <a:r>
              <a:rPr lang="en-IN" b="1" dirty="0"/>
              <a:t> — form (React Hook Form + Zod)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Reports</a:t>
            </a:r>
            <a:r>
              <a:rPr lang="en-IN" b="1" dirty="0"/>
              <a:t> — create Excel/PDF export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urier New" panose="02070309020205020404" pitchFamily="49" charset="0"/>
              </a:rPr>
              <a:t>Users/Manage</a:t>
            </a:r>
            <a:r>
              <a:rPr lang="en-IN" b="1" dirty="0"/>
              <a:t> — admin only</a:t>
            </a:r>
          </a:p>
          <a:p>
            <a:pPr>
              <a:buNone/>
            </a:pPr>
            <a:r>
              <a:rPr lang="en-IN" dirty="0"/>
              <a:t>State &amp; fetching: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React Query (</a:t>
            </a:r>
            <a:r>
              <a:rPr lang="en-IN" b="1" dirty="0" err="1"/>
              <a:t>TanStack</a:t>
            </a:r>
            <a:r>
              <a:rPr lang="en-IN" b="1" dirty="0"/>
              <a:t> Query)</a:t>
            </a:r>
            <a:r>
              <a:rPr lang="en-IN" dirty="0"/>
              <a:t> for caching, optimistic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File uploads: use </a:t>
            </a:r>
            <a:r>
              <a:rPr lang="en-IN" dirty="0" err="1"/>
              <a:t>presigned</a:t>
            </a:r>
            <a:r>
              <a:rPr lang="en-IN" dirty="0"/>
              <a:t> S3 URLs from backend</a:t>
            </a:r>
          </a:p>
          <a:p>
            <a:pPr>
              <a:buNone/>
            </a:pPr>
            <a:r>
              <a:rPr lang="en-IN" dirty="0"/>
              <a:t>UI Example: data table with columns, inline search input, filters in sidebar, bulk-action export button.</a:t>
            </a:r>
          </a:p>
        </p:txBody>
      </p:sp>
    </p:spTree>
    <p:extLst>
      <p:ext uri="{BB962C8B-B14F-4D97-AF65-F5344CB8AC3E}">
        <p14:creationId xmlns:p14="http://schemas.microsoft.com/office/powerpoint/2010/main" val="258359891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5873A2-64AC-AACF-289A-E8220A296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8E5B4-6E35-66BF-ADFE-3EB72F98EEC7}"/>
              </a:ext>
            </a:extLst>
          </p:cNvPr>
          <p:cNvSpPr txBox="1"/>
          <p:nvPr/>
        </p:nvSpPr>
        <p:spPr bwMode="auto">
          <a:xfrm>
            <a:off x="110358" y="537959"/>
            <a:ext cx="9144000" cy="397031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    9 — Dev workflow, tests &amp; CI/CD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GitHub Actions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Lint (</a:t>
            </a:r>
            <a:r>
              <a:rPr lang="en-IN" dirty="0" err="1"/>
              <a:t>ESLint</a:t>
            </a:r>
            <a:r>
              <a:rPr lang="en-IN" dirty="0"/>
              <a:t>), TypeScript compile, unit tests (Jest), run migrations, run integration tests (</a:t>
            </a:r>
            <a:r>
              <a:rPr lang="en-IN" dirty="0" err="1"/>
              <a:t>Supertest</a:t>
            </a:r>
            <a:r>
              <a:rPr lang="en-IN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Build Docker image, push to registry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Deploy to Cloud Run / ECS / Heroku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Unit tests for services/utility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Integration tests for endpoints (use test DB)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E2E with Cypress hitting deployed staging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Migrations: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Prisma Migrate or Flyway/</a:t>
            </a:r>
            <a:r>
              <a:rPr lang="en-IN" dirty="0" err="1"/>
              <a:t>liquibase</a:t>
            </a:r>
            <a:r>
              <a:rPr lang="en-IN" dirty="0"/>
              <a:t> for DB migrations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Backups &amp; migrations: daily backups of Postgres, point-in-time recovery if available</a:t>
            </a:r>
          </a:p>
        </p:txBody>
      </p:sp>
    </p:spTree>
    <p:extLst>
      <p:ext uri="{BB962C8B-B14F-4D97-AF65-F5344CB8AC3E}">
        <p14:creationId xmlns:p14="http://schemas.microsoft.com/office/powerpoint/2010/main" val="57840234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B43A60-0AB1-95E3-824A-6730C5717E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12E0C-8847-8412-785F-C6372BB3C6C6}"/>
              </a:ext>
            </a:extLst>
          </p:cNvPr>
          <p:cNvSpPr txBox="1"/>
          <p:nvPr/>
        </p:nvSpPr>
        <p:spPr bwMode="auto">
          <a:xfrm>
            <a:off x="550812" y="1220285"/>
            <a:ext cx="8042375" cy="258532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10 — Scalability &amp; performance tips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Put paginated endpoints (cursor-based pagination) not offset for large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DB indexes on search and filter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caching (Redis) for frequent reads; cache generated reports with S3 and store metadata in 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background worker (</a:t>
            </a:r>
            <a:r>
              <a:rPr lang="en-US" dirty="0" err="1"/>
              <a:t>BullMQ</a:t>
            </a:r>
            <a:r>
              <a:rPr lang="en-US" dirty="0"/>
              <a:t> / Redis) for heavy tasks like bulk export or email sending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Rate limit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28967941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35C00C-5049-4CDA-863B-49E9A79CFA2E}"/>
              </a:ext>
            </a:extLst>
          </p:cNvPr>
          <p:cNvSpPr txBox="1"/>
          <p:nvPr/>
        </p:nvSpPr>
        <p:spPr bwMode="auto">
          <a:xfrm>
            <a:off x="2286000" y="278178"/>
            <a:ext cx="44196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1F482-FF66-E4E8-BA9C-C33DC2119290}"/>
              </a:ext>
            </a:extLst>
          </p:cNvPr>
          <p:cNvSpPr txBox="1"/>
          <p:nvPr/>
        </p:nvSpPr>
        <p:spPr bwMode="auto">
          <a:xfrm>
            <a:off x="378373" y="739843"/>
            <a:ext cx="8631621" cy="36933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1. User Authentication &amp; Role Management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Implementing </a:t>
            </a:r>
            <a:r>
              <a:rPr lang="en-US" b="1" dirty="0"/>
              <a:t>three user roles</a:t>
            </a:r>
            <a:r>
              <a:rPr lang="en-US" dirty="0"/>
              <a:t> (Admin, Teacher, Student) with different permissions.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Maintaining </a:t>
            </a:r>
            <a:r>
              <a:rPr lang="en-US" b="1" dirty="0"/>
              <a:t>secure login</a:t>
            </a:r>
            <a:r>
              <a:rPr lang="en-US" dirty="0"/>
              <a:t> and preventing unauthorized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Storing passwords securely.</a:t>
            </a:r>
          </a:p>
          <a:p>
            <a:pPr>
              <a:buNone/>
            </a:pPr>
            <a:r>
              <a:rPr lang="en-US" b="1" dirty="0"/>
              <a:t>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JWT (JSON Web Token)</a:t>
            </a:r>
            <a:r>
              <a:rPr lang="en-US" dirty="0"/>
              <a:t> or </a:t>
            </a:r>
            <a:r>
              <a:rPr lang="en-US" b="1" dirty="0"/>
              <a:t>OAuth</a:t>
            </a:r>
            <a:r>
              <a:rPr lang="en-US" dirty="0"/>
              <a:t> for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Role-Based Access Control (RBAC)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passwords using </a:t>
            </a:r>
            <a:r>
              <a:rPr lang="en-US" b="1" dirty="0" err="1"/>
              <a:t>bcrypt</a:t>
            </a:r>
            <a:r>
              <a:rPr lang="en-US" b="1" dirty="0"/>
              <a:t> hashing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session timeouts and input validation to avoid attacks like SQL injection or brute force.</a:t>
            </a:r>
          </a:p>
        </p:txBody>
      </p:sp>
    </p:spTree>
    <p:extLst>
      <p:ext uri="{BB962C8B-B14F-4D97-AF65-F5344CB8AC3E}">
        <p14:creationId xmlns:p14="http://schemas.microsoft.com/office/powerpoint/2010/main" val="389289222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B0ABD2-0C71-8FD1-7782-D40B224D9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F2C32-4F38-0CF6-3EDB-444D94E0C758}"/>
              </a:ext>
            </a:extLst>
          </p:cNvPr>
          <p:cNvSpPr txBox="1"/>
          <p:nvPr/>
        </p:nvSpPr>
        <p:spPr bwMode="auto">
          <a:xfrm>
            <a:off x="220717" y="573982"/>
            <a:ext cx="9041524" cy="313932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2. CRUD Operations for Student Records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Designing a database that efficiently stores student profiles, marks, attendance,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Handling </a:t>
            </a:r>
            <a:r>
              <a:rPr lang="en-IN" b="1" dirty="0"/>
              <a:t>data consistency</a:t>
            </a:r>
            <a:r>
              <a:rPr lang="en-IN" dirty="0"/>
              <a:t> when multiple users update records at the same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Avoiding accidental data loss during delete/update operations.</a:t>
            </a:r>
          </a:p>
          <a:p>
            <a:pPr>
              <a:buNone/>
            </a:pPr>
            <a:r>
              <a:rPr lang="en-IN" b="1" dirty="0"/>
              <a:t>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a normalized relational database (MySQL/PostgreSQL).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</a:t>
            </a:r>
            <a:r>
              <a:rPr lang="en-IN" b="1" dirty="0"/>
              <a:t>transactions</a:t>
            </a:r>
            <a:r>
              <a:rPr lang="en-IN" dirty="0"/>
              <a:t> to maintain data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</a:t>
            </a:r>
            <a:r>
              <a:rPr lang="en-IN" b="1" dirty="0"/>
              <a:t>soft delete</a:t>
            </a:r>
            <a:r>
              <a:rPr lang="en-IN" dirty="0"/>
              <a:t> (mark as inactive instead of deleting).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server-side validation to ensure proper data format.</a:t>
            </a:r>
          </a:p>
        </p:txBody>
      </p:sp>
    </p:spTree>
    <p:extLst>
      <p:ext uri="{BB962C8B-B14F-4D97-AF65-F5344CB8AC3E}">
        <p14:creationId xmlns:p14="http://schemas.microsoft.com/office/powerpoint/2010/main" val="166500700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6690A-2455-F649-B490-00EE148B5B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319A1-EB60-F061-782B-ED8D59E31609}"/>
              </a:ext>
            </a:extLst>
          </p:cNvPr>
          <p:cNvSpPr txBox="1"/>
          <p:nvPr/>
        </p:nvSpPr>
        <p:spPr bwMode="auto">
          <a:xfrm>
            <a:off x="55179" y="596444"/>
            <a:ext cx="9088821" cy="313932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           3. Search and Filter Functionality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large data loads which may slow down searching.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Performing multi-parameter search (name, roll number, department,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Ensuring fast performance with filters.</a:t>
            </a:r>
          </a:p>
          <a:p>
            <a:pPr>
              <a:buNone/>
            </a:pPr>
            <a:r>
              <a:rPr lang="en-US" b="1" dirty="0"/>
              <a:t>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optimized SQL queries</a:t>
            </a:r>
            <a:r>
              <a:rPr lang="en-US" dirty="0"/>
              <a:t> with indexes.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server-side pagination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b="1" dirty="0"/>
              <a:t>full-text search</a:t>
            </a:r>
            <a:r>
              <a:rPr lang="en-US" dirty="0"/>
              <a:t> for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Cache frequently accessed queries using </a:t>
            </a:r>
            <a:r>
              <a:rPr lang="en-US" b="1" dirty="0"/>
              <a:t>Redis</a:t>
            </a:r>
            <a:r>
              <a:rPr lang="en-US" dirty="0"/>
              <a:t> (optional for advanced setups).</a:t>
            </a:r>
          </a:p>
        </p:txBody>
      </p:sp>
    </p:spTree>
    <p:extLst>
      <p:ext uri="{BB962C8B-B14F-4D97-AF65-F5344CB8AC3E}">
        <p14:creationId xmlns:p14="http://schemas.microsoft.com/office/powerpoint/2010/main" val="73925312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444B5E-32D2-B595-B4CC-30F2EB9EB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5F07C-6F71-372C-1C80-7FE6B896BF72}"/>
              </a:ext>
            </a:extLst>
          </p:cNvPr>
          <p:cNvSpPr txBox="1"/>
          <p:nvPr/>
        </p:nvSpPr>
        <p:spPr bwMode="auto">
          <a:xfrm>
            <a:off x="599089" y="696716"/>
            <a:ext cx="9144000" cy="34163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4. Report Generation (PDF/Excel)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Generating visually correct and downloadable report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Handling large report sizes without slowing down the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Maintaining proper formatting for Excel and PDF.</a:t>
            </a:r>
          </a:p>
          <a:p>
            <a:pPr>
              <a:buNone/>
            </a:pPr>
            <a:r>
              <a:rPr lang="en-IN" b="1" dirty="0"/>
              <a:t>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libraries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PDF</a:t>
            </a:r>
            <a:r>
              <a:rPr lang="en-IN" dirty="0"/>
              <a:t> → </a:t>
            </a:r>
            <a:r>
              <a:rPr lang="en-IN" dirty="0" err="1"/>
              <a:t>jsPDF</a:t>
            </a:r>
            <a:r>
              <a:rPr lang="en-IN" dirty="0"/>
              <a:t>, </a:t>
            </a:r>
            <a:r>
              <a:rPr lang="en-IN" dirty="0" err="1"/>
              <a:t>PDFKit</a:t>
            </a:r>
            <a:r>
              <a:rPr lang="en-IN" dirty="0"/>
              <a:t>, or </a:t>
            </a:r>
            <a:r>
              <a:rPr lang="en-IN" dirty="0" err="1"/>
              <a:t>ReportLab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Excel</a:t>
            </a:r>
            <a:r>
              <a:rPr lang="en-IN" dirty="0"/>
              <a:t> → </a:t>
            </a:r>
            <a:r>
              <a:rPr lang="en-IN" dirty="0" err="1"/>
              <a:t>SheetJS</a:t>
            </a:r>
            <a:r>
              <a:rPr lang="en-IN" dirty="0"/>
              <a:t> (XLSX), Apache POI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 reports asynchronously to avoid server blocking.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 templates to maintain formatting consistency.</a:t>
            </a:r>
          </a:p>
        </p:txBody>
      </p:sp>
    </p:spTree>
    <p:extLst>
      <p:ext uri="{BB962C8B-B14F-4D97-AF65-F5344CB8AC3E}">
        <p14:creationId xmlns:p14="http://schemas.microsoft.com/office/powerpoint/2010/main" val="141785827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D973D-D271-1EC1-7F73-942DF2251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DCA74-92DA-960E-0E2E-481C547DE81C}"/>
              </a:ext>
            </a:extLst>
          </p:cNvPr>
          <p:cNvSpPr txBox="1"/>
          <p:nvPr/>
        </p:nvSpPr>
        <p:spPr bwMode="auto">
          <a:xfrm>
            <a:off x="528145" y="873443"/>
            <a:ext cx="8552793" cy="258532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     5. Front-end UI/UX Complexity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Designing an intuitive UI for three different user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Displaying large student lists effectively.</a:t>
            </a:r>
          </a:p>
          <a:p>
            <a:pPr>
              <a:buNone/>
            </a:pPr>
            <a:r>
              <a:rPr lang="en-IN" b="1" dirty="0"/>
              <a:t>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responsive frameworks like </a:t>
            </a:r>
            <a:r>
              <a:rPr lang="en-IN" b="1" dirty="0"/>
              <a:t>React</a:t>
            </a:r>
            <a:r>
              <a:rPr lang="en-IN" dirty="0"/>
              <a:t>, </a:t>
            </a:r>
            <a:r>
              <a:rPr lang="en-IN" b="1" dirty="0"/>
              <a:t>Angular</a:t>
            </a:r>
            <a:r>
              <a:rPr lang="en-IN" dirty="0"/>
              <a:t>, or </a:t>
            </a:r>
            <a:r>
              <a:rPr lang="en-IN" b="1" dirty="0"/>
              <a:t>Bootstrap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search boxes, sorting, and table pagination.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student forms simple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258054438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23B6A4-2709-4399-7C2F-AFAAA637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ABB723-660E-4467-8A37-055799D186E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07654-FD00-1476-59C3-E4E28F30F9C5}"/>
              </a:ext>
            </a:extLst>
          </p:cNvPr>
          <p:cNvSpPr txBox="1"/>
          <p:nvPr/>
        </p:nvSpPr>
        <p:spPr bwMode="auto">
          <a:xfrm>
            <a:off x="2530366" y="1931854"/>
            <a:ext cx="4572000" cy="76944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5247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2725</Words>
  <Application>Microsoft Office PowerPoint</Application>
  <PresentationFormat>On-screen Show (16:9)</PresentationFormat>
  <Paragraphs>334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Courier New</vt:lpstr>
      <vt:lpstr>Times New Roman</vt:lpstr>
      <vt:lpstr>Garamond</vt:lpstr>
      <vt:lpstr>Wingdings</vt:lpstr>
      <vt:lpstr>Arial</vt:lpstr>
      <vt:lpstr>MC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vanga Navya sri</dc:creator>
  <cp:lastModifiedBy>vanga Navya sri</cp:lastModifiedBy>
  <cp:revision>2</cp:revision>
  <dcterms:created xsi:type="dcterms:W3CDTF">2016-09-09T13:34:50Z</dcterms:created>
  <dcterms:modified xsi:type="dcterms:W3CDTF">2025-12-06T16:40:13Z</dcterms:modified>
</cp:coreProperties>
</file>